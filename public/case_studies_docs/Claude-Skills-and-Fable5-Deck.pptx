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84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845C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640080"/>
            <a:ext cx="2103120" cy="2103120"/>
          </a:xfrm>
          <a:prstGeom prst="ellipse">
            <a:avLst/>
          </a:prstGeom>
          <a:solidFill>
            <a:srgbClr val="E8845C"/>
          </a:solidFill>
          <a:ln/>
        </p:spPr>
      </p:sp>
      <p:sp>
        <p:nvSpPr>
          <p:cNvPr id="5" name="Shape 3"/>
          <p:cNvSpPr/>
          <p:nvPr/>
        </p:nvSpPr>
        <p:spPr>
          <a:xfrm>
            <a:off x="6720840" y="960120"/>
            <a:ext cx="1463040" cy="1463040"/>
          </a:xfrm>
          <a:prstGeom prst="ellipse">
            <a:avLst/>
          </a:prstGeom>
          <a:solidFill>
            <a:srgbClr val="F2A27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8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EASY-TO-FOLLOW STORY IN FOUR PARTS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4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Skills
</a:t>
            </a:r>
            <a:pPr indent="0" marL="0">
              <a:lnSpc>
                <a:spcPts val="5600"/>
              </a:lnSpc>
              <a:buNone/>
            </a:pPr>
            <a:r>
              <a:rPr lang="en-US" sz="5400" b="1" i="1" dirty="0">
                <a:solidFill>
                  <a:srgbClr val="E88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Fable 5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create a skill · How to add it to Claude · What Fable 5 is · Where to use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950208"/>
            <a:ext cx="475488" cy="475488"/>
          </a:xfrm>
          <a:prstGeom prst="ellipse">
            <a:avLst/>
          </a:prstGeom>
          <a:solidFill>
            <a:srgbClr val="E8845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50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1F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43584" y="3950208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by </a:t>
            </a:r>
            <a:pPr indent="0" marL="0">
              <a:buNone/>
            </a:pPr>
            <a:r>
              <a:rPr lang="en-US" sz="1400" b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Kumar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4114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i="1" dirty="0">
                <a:solidFill>
                  <a:srgbClr val="F2D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00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JOURNEY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questions, answered simply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FBF3E6"/>
          </a:solidFill>
          <a:ln w="12700">
            <a:solidFill>
              <a:srgbClr val="F2DF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55648"/>
            <a:ext cx="457200" cy="457200"/>
          </a:xfrm>
          <a:prstGeom prst="ellipse">
            <a:avLst/>
          </a:prstGeom>
          <a:solidFill>
            <a:srgbClr val="F2DFC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86994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53312" y="171907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Claude Skill?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297680" y="1719072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 of your know-how that Claude follows — explained with the recipe-book idea.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02920" y="2468880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FBF3E6"/>
          </a:solidFill>
          <a:ln w="12700">
            <a:solidFill>
              <a:srgbClr val="F2D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2596896"/>
            <a:ext cx="457200" cy="457200"/>
          </a:xfrm>
          <a:prstGeom prst="ellipse">
            <a:avLst/>
          </a:prstGeom>
          <a:solidFill>
            <a:srgbClr val="F2DFC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" y="2711196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53312" y="256032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create one?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297680" y="2560320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simple steps from a blank folder to a working SKILL.md, with visual references.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2920" y="3310128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FBF3E6"/>
          </a:solidFill>
          <a:ln w="12700">
            <a:solidFill>
              <a:srgbClr val="F2DFC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3438144"/>
            <a:ext cx="457200" cy="457200"/>
          </a:xfrm>
          <a:prstGeom prst="ellipse">
            <a:avLst/>
          </a:prstGeom>
          <a:solidFill>
            <a:srgbClr val="F2DFC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3552444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53312" y="340156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add &amp; use it?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4297680" y="340156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in claude.ai Settings, Claude Code, or the API — then just chatting normally.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02920" y="4151376"/>
            <a:ext cx="8138160" cy="713232"/>
          </a:xfrm>
          <a:prstGeom prst="roundRect">
            <a:avLst>
              <a:gd name="adj" fmla="val 11538"/>
            </a:avLst>
          </a:prstGeom>
          <a:solidFill>
            <a:srgbClr val="FBF3E6"/>
          </a:solidFill>
          <a:ln w="12700">
            <a:solidFill>
              <a:srgbClr val="F2DFC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3232" y="4279392"/>
            <a:ext cx="457200" cy="457200"/>
          </a:xfrm>
          <a:prstGeom prst="ellipse">
            <a:avLst/>
          </a:prstGeom>
          <a:solidFill>
            <a:srgbClr val="F2DFC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" y="4393692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53312" y="424281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Fable 5?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297680" y="4242816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top Claude model, how it compares to the family, and real use cases.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4114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i="1" dirty="0">
                <a:solidFill>
                  <a:srgbClr val="F2D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01 — THE IDEA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recipe book you give to Claude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709928"/>
            <a:ext cx="384048" cy="384048"/>
          </a:xfrm>
          <a:prstGeom prst="ellipse">
            <a:avLst/>
          </a:prstGeom>
          <a:solidFill>
            <a:srgbClr val="E8845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42416" y="16916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know a job perfectly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42416" y="202082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product images, writing reports your company's way, translating documents.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79192"/>
            <a:ext cx="384048" cy="384048"/>
          </a:xfrm>
          <a:prstGeom prst="ellipse">
            <a:avLst/>
          </a:prstGeom>
          <a:solidFill>
            <a:srgbClr val="E8845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42416" y="266090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skill writes it down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42416" y="299008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simply a folder holding one required file — SKILL.md — with your steps inside.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648456"/>
            <a:ext cx="384048" cy="384048"/>
          </a:xfrm>
          <a:prstGeom prst="ellipse">
            <a:avLst/>
          </a:prstGeom>
          <a:solidFill>
            <a:srgbClr val="E8845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2416" y="363016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opens it when needed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42416" y="3959352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remembers only the short labels. When your request matches, it opens that one folder and follows the recipe.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20640" y="164592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3A1F0E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8105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my-skill /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49240" y="2157984"/>
            <a:ext cx="3063240" cy="1170432"/>
          </a:xfrm>
          <a:prstGeom prst="roundRect">
            <a:avLst>
              <a:gd name="adj" fmla="val 6250"/>
            </a:avLst>
          </a:prstGeom>
          <a:solidFill>
            <a:srgbClr val="FFF8EC"/>
          </a:solidFill>
          <a:ln/>
        </p:spPr>
      </p:sp>
      <p:sp>
        <p:nvSpPr>
          <p:cNvPr id="20" name="Text 18"/>
          <p:cNvSpPr/>
          <p:nvPr/>
        </p:nvSpPr>
        <p:spPr>
          <a:xfrm>
            <a:off x="5504688" y="224942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 (required)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04688" y="24871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8C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my-skill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8C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when…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your step-by-step instructions</a:t>
            </a:r>
            <a:endParaRPr lang="en-US" sz="105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3511296"/>
            <a:ext cx="182880" cy="1828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705856" y="3474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references/  </a:t>
            </a:r>
            <a:pPr indent="0" marL="0">
              <a:buNone/>
            </a:pPr>
            <a:r>
              <a:rPr lang="en-US" sz="1000" dirty="0">
                <a:solidFill>
                  <a:srgbClr val="C9A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reading, opened only if needed</a:t>
            </a:r>
            <a:endParaRPr lang="en-US" sz="10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3877056"/>
            <a:ext cx="182880" cy="1828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705856" y="3840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  </a:t>
            </a:r>
            <a:pPr indent="0" marL="0">
              <a:buNone/>
            </a:pPr>
            <a:r>
              <a:rPr lang="en-US" sz="1000" dirty="0">
                <a:solidFill>
                  <a:srgbClr val="C9A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programs Claude can run</a:t>
            </a:r>
            <a:endParaRPr lang="en-US" sz="10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4242816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705856" y="4206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  </a:t>
            </a:r>
            <a:pPr indent="0" marL="0">
              <a:buNone/>
            </a:pPr>
            <a:r>
              <a:rPr lang="en-US" sz="1000" dirty="0">
                <a:solidFill>
                  <a:srgbClr val="C9A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logos, fonts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97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4114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i="1" dirty="0">
                <a:solidFill>
                  <a:srgbClr val="4A2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— HOW TO CREATE A SKILL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simple steps, in order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3A1F0E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874520"/>
            <a:ext cx="512064" cy="512064"/>
          </a:xfrm>
          <a:prstGeom prst="ellipse">
            <a:avLst/>
          </a:prstGeom>
          <a:solidFill>
            <a:srgbClr val="E884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00253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E88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21208" y="285292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clear job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21208" y="3419856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“Rate Amazon product images” works. “Help with marketing” is too vague.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892808" y="28346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112264" y="169164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3A1F0E"/>
          </a:solidFill>
          <a:ln/>
        </p:spPr>
      </p:sp>
      <p:sp>
        <p:nvSpPr>
          <p:cNvPr id="13" name="Shape 10"/>
          <p:cNvSpPr/>
          <p:nvPr/>
        </p:nvSpPr>
        <p:spPr>
          <a:xfrm>
            <a:off x="2633472" y="1874520"/>
            <a:ext cx="512064" cy="512064"/>
          </a:xfrm>
          <a:prstGeom prst="ellipse">
            <a:avLst/>
          </a:prstGeom>
          <a:solidFill>
            <a:srgbClr val="E8845C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2002536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49424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E88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2221992" y="285292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folder + SKILL.md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2221992" y="3419856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on top: a name and a “Use this when…” description.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3593592" y="28346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3813048" y="169164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3A1F0E"/>
          </a:solidFill>
          <a:ln/>
        </p:spPr>
      </p:sp>
      <p:sp>
        <p:nvSpPr>
          <p:cNvPr id="20" name="Shape 16"/>
          <p:cNvSpPr/>
          <p:nvPr/>
        </p:nvSpPr>
        <p:spPr>
          <a:xfrm>
            <a:off x="4334256" y="1874520"/>
            <a:ext cx="512064" cy="512064"/>
          </a:xfrm>
          <a:prstGeom prst="ellipse">
            <a:avLst/>
          </a:prstGeom>
          <a:solidFill>
            <a:srgbClr val="E8845C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2002536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950208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E88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3922776" y="285292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the instructions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3922776" y="3419856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like a new teammate: steps, rules, one good example.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294376" y="28346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1"/>
          <p:cNvSpPr/>
          <p:nvPr/>
        </p:nvSpPr>
        <p:spPr>
          <a:xfrm>
            <a:off x="5513832" y="169164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3A1F0E"/>
          </a:solidFill>
          <a:ln/>
        </p:spPr>
      </p:sp>
      <p:sp>
        <p:nvSpPr>
          <p:cNvPr id="27" name="Shape 22"/>
          <p:cNvSpPr/>
          <p:nvPr/>
        </p:nvSpPr>
        <p:spPr>
          <a:xfrm>
            <a:off x="6035040" y="1874520"/>
            <a:ext cx="512064" cy="512064"/>
          </a:xfrm>
          <a:prstGeom prst="ellipse">
            <a:avLst/>
          </a:prstGeom>
          <a:solidFill>
            <a:srgbClr val="E8845C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002536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50992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E88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5623560" y="285292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helpers (optional)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5623560" y="3419856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 for repeat work, assets/ for templates — same result every run.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6995160" y="28346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27"/>
          <p:cNvSpPr/>
          <p:nvPr/>
        </p:nvSpPr>
        <p:spPr>
          <a:xfrm>
            <a:off x="7214616" y="169164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3A1F0E"/>
          </a:solidFill>
          <a:ln/>
        </p:spPr>
      </p:sp>
      <p:sp>
        <p:nvSpPr>
          <p:cNvPr id="34" name="Shape 28"/>
          <p:cNvSpPr/>
          <p:nvPr/>
        </p:nvSpPr>
        <p:spPr>
          <a:xfrm>
            <a:off x="7735824" y="1874520"/>
            <a:ext cx="512064" cy="512064"/>
          </a:xfrm>
          <a:prstGeom prst="ellipse">
            <a:avLst/>
          </a:prstGeom>
          <a:solidFill>
            <a:srgbClr val="E8845C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002536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351776" y="24871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E88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7" name="Text 30"/>
          <p:cNvSpPr/>
          <p:nvPr/>
        </p:nvSpPr>
        <p:spPr>
          <a:xfrm>
            <a:off x="7324344" y="2852928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it, then install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7324344" y="3419856"/>
            <a:ext cx="1335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requests first; then upload to claude.ai, Code, or the API.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depends on the last — skip ahead and the skill won't trigger, or won't deliver.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4114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i="1" dirty="0">
                <a:solidFill>
                  <a:srgbClr val="F2D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02 — VISUAL REFERENCE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real SKILL.md looks like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4206240" cy="3063240"/>
          </a:xfrm>
          <a:prstGeom prst="roundRect">
            <a:avLst>
              <a:gd name="adj" fmla="val 2985"/>
            </a:avLst>
          </a:prstGeom>
          <a:solidFill>
            <a:srgbClr val="3A1F0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83080"/>
            <a:ext cx="118872" cy="118872"/>
          </a:xfrm>
          <a:prstGeom prst="ellipse">
            <a:avLst/>
          </a:prstGeom>
          <a:solidFill>
            <a:srgbClr val="E8845C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783080"/>
            <a:ext cx="118872" cy="118872"/>
          </a:xfrm>
          <a:prstGeom prst="ellipse">
            <a:avLst/>
          </a:prstGeom>
          <a:solidFill>
            <a:srgbClr val="F2DFC4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783080"/>
            <a:ext cx="118872" cy="118872"/>
          </a:xfrm>
          <a:prstGeom prst="ellipse">
            <a:avLst/>
          </a:prstGeom>
          <a:solidFill>
            <a:srgbClr val="8FBFAE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7190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AC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amazon-image-rater / SKILL.md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6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E88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B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amazon-image-rater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b="1" dirty="0">
                <a:solidFill>
                  <a:srgbClr val="E884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B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Audits Amazon listing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B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images for CTR impact. Use when a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FBF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product image needs rating or scoring.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8A6F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C9AC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Instructions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Classify the image type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Score it across 8 checks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FFF8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Return a prioritised fix list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0" y="1737360"/>
            <a:ext cx="64008" cy="786384"/>
          </a:xfrm>
          <a:prstGeom prst="rect">
            <a:avLst/>
          </a:prstGeom>
          <a:solidFill>
            <a:srgbClr val="E8845C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1691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“doorbell”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257800" y="200253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 + description tell Claude when to open this skill. Write the description with the exact words people actually type.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724912"/>
            <a:ext cx="64008" cy="786384"/>
          </a:xfrm>
          <a:prstGeom prst="rect">
            <a:avLst/>
          </a:prstGeom>
          <a:solidFill>
            <a:srgbClr val="E8845C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26791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recipe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257800" y="299008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two lines, plain-language steps in order — like briefing a sharp new teammate.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712464"/>
            <a:ext cx="64008" cy="786384"/>
          </a:xfrm>
          <a:prstGeom prst="rect">
            <a:avLst/>
          </a:prstGeom>
          <a:solidFill>
            <a:srgbClr val="E8845C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366674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it short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57800" y="397764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rulebooks move to references/ — Claude reads them only when the instructions point there.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4114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i="1" dirty="0">
                <a:solidFill>
                  <a:srgbClr val="F2D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— HOW TO ADD THE SKILL TO CLAUDE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in — pick your surface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627632"/>
            <a:ext cx="41148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F2DFC4"/>
            </a:solidFill>
            <a:prstDash val="solid"/>
          </a:ln>
          <a:effectLst>
            <a:outerShdw sx="100000" sy="100000" kx="0" ky="0" algn="bl" rotWithShape="0" blurRad="127000" dist="38100" dir="8100000">
              <a:srgbClr val="8C3F1F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627632"/>
            <a:ext cx="4114800" cy="457200"/>
          </a:xfrm>
          <a:prstGeom prst="roundRect">
            <a:avLst>
              <a:gd name="adj" fmla="val 20000"/>
            </a:avLst>
          </a:prstGeom>
          <a:solidFill>
            <a:srgbClr val="F2DFC4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901952"/>
            <a:ext cx="4114800" cy="182880"/>
          </a:xfrm>
          <a:prstGeom prst="rect">
            <a:avLst/>
          </a:prstGeom>
          <a:solidFill>
            <a:srgbClr val="F2DFC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8249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3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 →  Settings  →  Capabilities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7240" y="2304288"/>
            <a:ext cx="3566160" cy="475488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 w="12700">
            <a:solidFill>
              <a:srgbClr val="5E9C8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23160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3042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amazon-image-rater — enabled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2907792"/>
            <a:ext cx="3566160" cy="475488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 w="12700">
            <a:solidFill>
              <a:srgbClr val="5E9C8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02666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29077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translate-docs — enabled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77240" y="3511296"/>
            <a:ext cx="3566160" cy="475488"/>
          </a:xfrm>
          <a:prstGeom prst="roundRect">
            <a:avLst>
              <a:gd name="adj" fmla="val 50000"/>
            </a:avLst>
          </a:prstGeom>
          <a:solidFill>
            <a:srgbClr val="FBF3E6"/>
          </a:solidFill>
          <a:ln w="12700">
            <a:solidFill>
              <a:srgbClr val="E8845C"/>
            </a:solidFill>
            <a:prstDash val="dash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630168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51129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skill (.zip of your folder)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777240" y="4114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 folder, zipped and uploaded — switch on/off anytime.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983480" y="1709928"/>
            <a:ext cx="384048" cy="384048"/>
          </a:xfrm>
          <a:prstGeom prst="ellipse">
            <a:avLst/>
          </a:prstGeom>
          <a:solidFill>
            <a:srgbClr val="D9743F"/>
          </a:solidFill>
          <a:ln/>
        </p:spPr>
      </p:sp>
      <p:sp>
        <p:nvSpPr>
          <p:cNvPr id="20" name="Text 15"/>
          <p:cNvSpPr/>
          <p:nvPr/>
        </p:nvSpPr>
        <p:spPr>
          <a:xfrm>
            <a:off x="498348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504688" y="169164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claude.ai (this chat)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5504688" y="2002536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Capabilities → upload your skill folder. Best for everyday team use.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983480" y="2697480"/>
            <a:ext cx="384048" cy="384048"/>
          </a:xfrm>
          <a:prstGeom prst="ellipse">
            <a:avLst/>
          </a:prstGeom>
          <a:solidFill>
            <a:srgbClr val="D9743F"/>
          </a:solidFill>
          <a:ln/>
        </p:spPr>
      </p:sp>
      <p:sp>
        <p:nvSpPr>
          <p:cNvPr id="24" name="Text 19"/>
          <p:cNvSpPr/>
          <p:nvPr/>
        </p:nvSpPr>
        <p:spPr>
          <a:xfrm>
            <a:off x="498348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5504688" y="267919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5504688" y="2990088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folder into your skills directory — it loads automatically for coding sessions.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983480" y="3685032"/>
            <a:ext cx="384048" cy="384048"/>
          </a:xfrm>
          <a:prstGeom prst="ellipse">
            <a:avLst/>
          </a:prstGeom>
          <a:solidFill>
            <a:srgbClr val="D9743F"/>
          </a:solidFill>
          <a:ln/>
        </p:spPr>
      </p:sp>
      <p:sp>
        <p:nvSpPr>
          <p:cNvPr id="28" name="Text 23"/>
          <p:cNvSpPr/>
          <p:nvPr/>
        </p:nvSpPr>
        <p:spPr>
          <a:xfrm>
            <a:off x="4983480" y="3685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5504688" y="366674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API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5504688" y="3977640"/>
            <a:ext cx="3154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via the Skills API to power apps, agents, and n8n-style pipelines.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4114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i="1" dirty="0">
                <a:solidFill>
                  <a:srgbClr val="F2D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03 — HOW TO USE IT IN CHAT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don't “run” it. You just ask.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846320" y="155448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2DFC4"/>
            </a:solidFill>
            <a:prstDash val="solid"/>
          </a:ln>
          <a:effectLst>
            <a:outerShdw sx="100000" sy="100000" kx="0" ky="0" algn="bl" rotWithShape="0" blurRad="127000" dist="38100" dir="8100000">
              <a:srgbClr val="8C3F1F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74920" y="164592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897880" y="1956816"/>
            <a:ext cx="2606040" cy="566928"/>
          </a:xfrm>
          <a:prstGeom prst="roundRect">
            <a:avLst>
              <a:gd name="adj" fmla="val 19355"/>
            </a:avLst>
          </a:prstGeom>
          <a:solidFill>
            <a:srgbClr val="D9743F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0" y="1993392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this walking pad image for my Amazon listing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74920" y="2670048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EAF4EF"/>
          </a:solidFill>
          <a:ln w="12700">
            <a:solidFill>
              <a:srgbClr val="5E9C8C"/>
            </a:solidFill>
            <a:prstDash val="dash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2761488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68112" y="26700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activated: amazon-image-rater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074920" y="320040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FBF3E6"/>
          </a:solidFill>
          <a:ln w="12700">
            <a:solidFill>
              <a:srgbClr val="F2DF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12080" y="3255264"/>
            <a:ext cx="25786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2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image. Score 7.5/10 — strong mobile readability, low headline contrast. Top fix: +20% text size for gallery slot 3.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63640" y="4242816"/>
            <a:ext cx="2240280" cy="402336"/>
          </a:xfrm>
          <a:prstGeom prst="roundRect">
            <a:avLst>
              <a:gd name="adj" fmla="val 27273"/>
            </a:avLst>
          </a:prstGeom>
          <a:solidFill>
            <a:srgbClr val="D9743F"/>
          </a:solidFill>
          <a:ln/>
        </p:spPr>
      </p:sp>
      <p:sp>
        <p:nvSpPr>
          <p:cNvPr id="15" name="Text 12"/>
          <p:cNvSpPr/>
          <p:nvPr/>
        </p:nvSpPr>
        <p:spPr>
          <a:xfrm>
            <a:off x="6382512" y="424281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— same check on the next one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2920" y="1691640"/>
            <a:ext cx="457200" cy="457200"/>
          </a:xfrm>
          <a:prstGeom prst="ellipse">
            <a:avLst/>
          </a:prstGeom>
          <a:solidFill>
            <a:srgbClr val="D9743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10512"/>
            <a:ext cx="219456" cy="21945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15568" y="1691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Just ask naturally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1115568" y="200253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“Rate this product image” — if it matches the skill's description, the skill switches on by itself.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02920" y="2715768"/>
            <a:ext cx="457200" cy="457200"/>
          </a:xfrm>
          <a:prstGeom prst="ellipse">
            <a:avLst/>
          </a:prstGeom>
          <a:solidFill>
            <a:srgbClr val="D9743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834640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115568" y="271576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 name it directly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1115568" y="302666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 the amazon-image-rater skill on this photo” — naming the skill guarantees it's used.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02920" y="3739896"/>
            <a:ext cx="457200" cy="457200"/>
          </a:xfrm>
          <a:prstGeom prst="ellipse">
            <a:avLst/>
          </a:prstGeom>
          <a:solidFill>
            <a:srgbClr val="D9743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858768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15568" y="37398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 in Settings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1115568" y="405079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skills on or off anytime in Settings → Capabilities. No commands to memorise.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4114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i="1" dirty="0">
                <a:solidFill>
                  <a:srgbClr val="4A2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8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— WHAT IS CLAUDE FABLE 5?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new top model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5 is the smartest Claude model that everyone can use.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first model of the new Claude 5 family — opening a brand-new top tier called Mythos-class, one level above Claude Opus.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260604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twin, Claude Mythos 5,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same brain. Fable 5 is the public version with extra safety protections built in; Mythos 5 is offered only to specially approved organizations.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3822192"/>
            <a:ext cx="4846320" cy="731520"/>
          </a:xfrm>
          <a:prstGeom prst="roundRect">
            <a:avLst>
              <a:gd name="adj" fmla="val 12500"/>
            </a:avLst>
          </a:prstGeom>
          <a:solidFill>
            <a:srgbClr val="4A2A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8221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8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name  </a:t>
            </a:r>
            <a:pPr indent="0" marL="0">
              <a:buNone/>
            </a:pPr>
            <a:r>
              <a:rPr lang="en-US" sz="1200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claude-fable-5      </a:t>
            </a:r>
            <a:pPr indent="0" marL="0">
              <a:buNone/>
            </a:pPr>
            <a:r>
              <a:rPr lang="en-US" sz="1200" b="1" dirty="0">
                <a:solidFill>
                  <a:srgbClr val="E88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 </a:t>
            </a:r>
            <a:pPr indent="0" marL="0">
              <a:buNone/>
            </a:pPr>
            <a:r>
              <a:rPr lang="en-US" sz="1200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 · API · Claude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1481328"/>
            <a:ext cx="3017520" cy="3072384"/>
          </a:xfrm>
          <a:prstGeom prst="roundRect">
            <a:avLst>
              <a:gd name="adj" fmla="val 3636"/>
            </a:avLst>
          </a:prstGeom>
          <a:solidFill>
            <a:srgbClr val="D9743F"/>
          </a:solidFill>
          <a:ln/>
        </p:spPr>
      </p:sp>
      <p:sp>
        <p:nvSpPr>
          <p:cNvPr id="10" name="Text 8"/>
          <p:cNvSpPr/>
          <p:nvPr/>
        </p:nvSpPr>
        <p:spPr>
          <a:xfrm>
            <a:off x="5897880" y="16459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FABLE 5 · SPEC CARD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97880" y="201168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97880" y="222199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5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897880" y="263347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97880" y="28437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Mythos-class · above Opus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97880" y="325526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MODEL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97880" y="34655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Mythos 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897880" y="38770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A1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AT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97880" y="4087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Agentic, skill-driven work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4114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i="1" dirty="0">
                <a:solidFill>
                  <a:srgbClr val="F2D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— FABLE 5 VS THE OTHER CLAUDE 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sits in the family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371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bar = more capable · lower bar = faster and cheaper. Pick by job.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Fable 5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Mythos-class · new top tier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14600" y="1993392"/>
            <a:ext cx="4663440" cy="310896"/>
          </a:xfrm>
          <a:prstGeom prst="roundRect">
            <a:avLst>
              <a:gd name="adj" fmla="val 50000"/>
            </a:avLst>
          </a:prstGeom>
          <a:solidFill>
            <a:srgbClr val="EFE2CC"/>
          </a:solidFill>
          <a:ln/>
        </p:spPr>
      </p:sp>
      <p:sp>
        <p:nvSpPr>
          <p:cNvPr id="8" name="Shape 6"/>
          <p:cNvSpPr/>
          <p:nvPr/>
        </p:nvSpPr>
        <p:spPr>
          <a:xfrm>
            <a:off x="2514600" y="1993392"/>
            <a:ext cx="4663440" cy="310896"/>
          </a:xfrm>
          <a:prstGeom prst="roundRect">
            <a:avLst>
              <a:gd name="adj" fmla="val 50000"/>
            </a:avLst>
          </a:prstGeom>
          <a:solidFill>
            <a:srgbClr val="E884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1965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2551176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Opus 4.8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flagship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14600" y="2670048"/>
            <a:ext cx="4663440" cy="310896"/>
          </a:xfrm>
          <a:prstGeom prst="roundRect">
            <a:avLst>
              <a:gd name="adj" fmla="val 50000"/>
            </a:avLst>
          </a:prstGeom>
          <a:solidFill>
            <a:srgbClr val="EFE2CC"/>
          </a:solidFill>
          <a:ln/>
        </p:spPr>
      </p:sp>
      <p:sp>
        <p:nvSpPr>
          <p:cNvPr id="12" name="Shape 10"/>
          <p:cNvSpPr/>
          <p:nvPr/>
        </p:nvSpPr>
        <p:spPr>
          <a:xfrm>
            <a:off x="2514600" y="2670048"/>
            <a:ext cx="3824021" cy="310896"/>
          </a:xfrm>
          <a:prstGeom prst="roundRect">
            <a:avLst>
              <a:gd name="adj" fmla="val 50000"/>
            </a:avLst>
          </a:prstGeom>
          <a:solidFill>
            <a:srgbClr val="C98A5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264261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32278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Sonnet 4.6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balance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14600" y="3346704"/>
            <a:ext cx="4663440" cy="310896"/>
          </a:xfrm>
          <a:prstGeom prst="roundRect">
            <a:avLst>
              <a:gd name="adj" fmla="val 50000"/>
            </a:avLst>
          </a:prstGeom>
          <a:solidFill>
            <a:srgbClr val="EFE2CC"/>
          </a:solidFill>
          <a:ln/>
        </p:spPr>
      </p:sp>
      <p:sp>
        <p:nvSpPr>
          <p:cNvPr id="16" name="Shape 14"/>
          <p:cNvSpPr/>
          <p:nvPr/>
        </p:nvSpPr>
        <p:spPr>
          <a:xfrm>
            <a:off x="2514600" y="3346704"/>
            <a:ext cx="2891333" cy="310896"/>
          </a:xfrm>
          <a:prstGeom prst="roundRect">
            <a:avLst>
              <a:gd name="adj" fmla="val 50000"/>
            </a:avLst>
          </a:prstGeom>
          <a:solidFill>
            <a:srgbClr val="5E9C8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331927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9044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Haiku 4.5
</a:t>
            </a:r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&amp; volume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14600" y="4023360"/>
            <a:ext cx="4663440" cy="310896"/>
          </a:xfrm>
          <a:prstGeom prst="roundRect">
            <a:avLst>
              <a:gd name="adj" fmla="val 50000"/>
            </a:avLst>
          </a:prstGeom>
          <a:solidFill>
            <a:srgbClr val="EFE2CC"/>
          </a:solidFill>
          <a:ln/>
        </p:spPr>
      </p:sp>
      <p:sp>
        <p:nvSpPr>
          <p:cNvPr id="20" name="Shape 18"/>
          <p:cNvSpPr/>
          <p:nvPr/>
        </p:nvSpPr>
        <p:spPr>
          <a:xfrm>
            <a:off x="2514600" y="4023360"/>
            <a:ext cx="1772107" cy="310896"/>
          </a:xfrm>
          <a:prstGeom prst="roundRect">
            <a:avLst>
              <a:gd name="adj" fmla="val 50000"/>
            </a:avLst>
          </a:prstGeom>
          <a:solidFill>
            <a:srgbClr val="C9B89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0" y="39959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626864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 → quick high-volume tasks · Sonnet → daily work · Opus → hard problems · Fable 5 → the hardest, most agentic work  (illustrative comparison)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97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4114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i="1" dirty="0">
                <a:solidFill>
                  <a:srgbClr val="4A2A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— THE POWER OF FABLE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changes your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3A1F0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874520"/>
            <a:ext cx="566928" cy="566928"/>
          </a:xfrm>
          <a:prstGeom prst="ellipse">
            <a:avLst/>
          </a:prstGeom>
          <a:solidFill>
            <a:srgbClr val="E8845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202082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606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Thinks deeper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3017520"/>
            <a:ext cx="22128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long, complicated problems in one go — strategy, analysis, debugging — with more first-time-right answers and fewer retries.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6459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3A1F0E"/>
          </a:solidFill>
          <a:ln/>
        </p:spPr>
      </p:sp>
      <p:sp>
        <p:nvSpPr>
          <p:cNvPr id="11" name="Shape 8"/>
          <p:cNvSpPr/>
          <p:nvPr/>
        </p:nvSpPr>
        <p:spPr>
          <a:xfrm>
            <a:off x="3520440" y="1874520"/>
            <a:ext cx="566928" cy="566928"/>
          </a:xfrm>
          <a:prstGeom prst="ellipse">
            <a:avLst/>
          </a:prstGeom>
          <a:solidFill>
            <a:srgbClr val="E8845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44" y="20208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606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Works agentic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20440" y="3017520"/>
            <a:ext cx="22128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jobs and drives tools — MCP servers, web, code, n8n — start to finish, holding big projects in context.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64592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3A1F0E"/>
          </a:solidFill>
          <a:ln/>
        </p:spPr>
      </p:sp>
      <p:sp>
        <p:nvSpPr>
          <p:cNvPr id="16" name="Shape 12"/>
          <p:cNvSpPr/>
          <p:nvPr/>
        </p:nvSpPr>
        <p:spPr>
          <a:xfrm>
            <a:off x="6355080" y="1874520"/>
            <a:ext cx="566928" cy="566928"/>
          </a:xfrm>
          <a:prstGeom prst="ellipse">
            <a:avLst/>
          </a:prstGeom>
          <a:solidFill>
            <a:srgbClr val="E8845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02082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6060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Follows skills safely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355080" y="3017520"/>
            <a:ext cx="221284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SKILL.md like a senior hire reads onboarding — the spirit, not just the words — with extra safety built into the public version.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-411480"/>
            <a:ext cx="2377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0" b="1" i="1" dirty="0">
                <a:solidFill>
                  <a:srgbClr val="F2DF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5C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04 — USE CASES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+ Fable 5 in real life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BF3E6"/>
          </a:solidFill>
          <a:ln w="12700">
            <a:solidFill>
              <a:srgbClr val="F2DF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D9743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56232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1700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creative ops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19842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Image-rating rules and brand names in a skill once — every Amazon gallery audit, infographic, and localized listing meets the same standard.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234440" y="27249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SKILL · DAILY WORKFLOW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4645152" y="15544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BF3E6"/>
          </a:solidFill>
          <a:ln w="12700">
            <a:solidFill>
              <a:srgbClr val="F2DFC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28032" y="1737360"/>
            <a:ext cx="457200" cy="457200"/>
          </a:xfrm>
          <a:prstGeom prst="ellipse">
            <a:avLst/>
          </a:prstGeom>
          <a:solidFill>
            <a:srgbClr val="D9743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904" y="1856232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2392" y="1700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documents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422392" y="19842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pptx, docx, and xlsx skills mean “make me a deck” returns a properly built file — clean layouts, working formulas.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422392" y="27249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· FILE CREATION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57200" y="31546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BF3E6"/>
          </a:solidFill>
          <a:ln w="12700">
            <a:solidFill>
              <a:srgbClr val="F2DFC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D9743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456432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Translation pipelines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234440" y="35844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translate-docs skill extracts, translates, and rebuilds PPTX / PDF / DOCX with formatting intact — many languages, one recipe.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1234440" y="43251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SKILL · AUTOMATION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4645152" y="31546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BF3E6"/>
          </a:solidFill>
          <a:ln w="12700">
            <a:solidFill>
              <a:srgbClr val="F2DFC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28032" y="3337560"/>
            <a:ext cx="457200" cy="457200"/>
          </a:xfrm>
          <a:prstGeom prst="ellipse">
            <a:avLst/>
          </a:prstGeom>
          <a:solidFill>
            <a:srgbClr val="D9743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6904" y="345643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22392" y="3300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20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automation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5422392" y="358444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5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MCP + n8n: the tools are the hands, the skill is the judgment, and Fable 5 is the brain running the job end to end.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422392" y="43251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5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MCP · FABLE 5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A1F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884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E8845C"/>
          </a:solidFill>
          <a:ln/>
        </p:spPr>
      </p:sp>
      <p:sp>
        <p:nvSpPr>
          <p:cNvPr id="4" name="Shape 2"/>
          <p:cNvSpPr/>
          <p:nvPr/>
        </p:nvSpPr>
        <p:spPr>
          <a:xfrm>
            <a:off x="3337560" y="4069080"/>
            <a:ext cx="2468880" cy="2468880"/>
          </a:xfrm>
          <a:prstGeom prst="ellipse">
            <a:avLst/>
          </a:prstGeom>
          <a:solidFill>
            <a:srgbClr val="E884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it down once.
</a:t>
            </a:r>
            <a:pPr algn="ctr" indent="0" marL="0">
              <a:lnSpc>
                <a:spcPts val="4800"/>
              </a:lnSpc>
              <a:buNone/>
            </a:pPr>
            <a:r>
              <a:rPr lang="en-US" sz="4000" b="1" i="1" dirty="0">
                <a:solidFill>
                  <a:srgbClr val="E884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remembers how.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D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SKILL.md  ·  Let Fable 5 do the rest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8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HOST   </a:t>
            </a:r>
            <a:pPr algn="ctr" indent="0" marL="0">
              <a:buNone/>
            </a:pPr>
            <a:r>
              <a:rPr lang="en-US" sz="1600" b="1" i="1" dirty="0">
                <a:solidFill>
                  <a:srgbClr val="FFF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Karan Kumar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Story of Claude Skills &amp; Fable 5</dc:title>
  <dc:subject>PptxGenJS Presentation</dc:subject>
  <dc:creator>Karan Kumar</dc:creator>
  <cp:lastModifiedBy>Karan Kumar</cp:lastModifiedBy>
  <cp:revision>1</cp:revision>
  <dcterms:created xsi:type="dcterms:W3CDTF">2026-06-12T09:32:24Z</dcterms:created>
  <dcterms:modified xsi:type="dcterms:W3CDTF">2026-06-12T09:32:24Z</dcterms:modified>
</cp:coreProperties>
</file>