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C6B73"/>
                </a:solidFill>
                <a:latin typeface="Calibri"/>
              </a:rPr>
              <a:t>30-day price (€), lowest offer of the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(€)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30 Jul</c:v>
                  </c:pt>
                  <c:pt idx="1">
                    <c:v>2 Aug</c:v>
                  </c:pt>
                  <c:pt idx="2">
                    <c:v>3 Aug</c:v>
                  </c:pt>
                  <c:pt idx="3">
                    <c:v>13 Aug</c:v>
                  </c:pt>
                  <c:pt idx="4">
                    <c:v>14 Aug</c:v>
                  </c:pt>
                  <c:pt idx="5">
                    <c:v>16 Aug</c:v>
                  </c:pt>
                  <c:pt idx="6">
                    <c:v>17 Aug</c:v>
                  </c:pt>
                  <c:pt idx="7">
                    <c:v>23 Aug</c:v>
                  </c:pt>
                  <c:pt idx="8">
                    <c:v>24 Aug</c:v>
                  </c:pt>
                  <c:pt idx="9">
                    <c:v>28 Aug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399</c:v>
                </c:pt>
                <c:pt idx="1">
                  <c:v>399</c:v>
                </c:pt>
                <c:pt idx="2">
                  <c:v>339.15</c:v>
                </c:pt>
                <c:pt idx="3">
                  <c:v>339.15</c:v>
                </c:pt>
                <c:pt idx="4">
                  <c:v>399</c:v>
                </c:pt>
                <c:pt idx="5">
                  <c:v>399</c:v>
                </c:pt>
                <c:pt idx="6">
                  <c:v>339.15</c:v>
                </c:pt>
                <c:pt idx="7">
                  <c:v>339.15</c:v>
                </c:pt>
                <c:pt idx="8">
                  <c:v>399</c:v>
                </c:pt>
                <c:pt idx="9">
                  <c:v>399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"/>
          <c:min val="300"/>
        </c:scaling>
        <c:delete val="0"/>
        <c:axPos val="l"/>
        <c:majorGridlines>
          <c:spPr>
            <a:ln w="12700" cap="flat">
              <a:solidFill>
                <a:srgbClr val="E4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822960" cy="82296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1737360"/>
            <a:ext cx="548640" cy="548640"/>
          </a:xfrm>
          <a:prstGeom prst="ellipse">
            <a:avLst/>
          </a:prstGeom>
          <a:solidFill>
            <a:srgbClr val="02C39A">
              <a:alpha val="65000"/>
            </a:srgbClr>
          </a:solidFill>
          <a:ln w="12700">
            <a:solidFill>
              <a:srgbClr val="02C39A">
                <a:alpha val="6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418320" y="2377440"/>
            <a:ext cx="457200" cy="45720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155680" y="3108960"/>
            <a:ext cx="685800" cy="685800"/>
          </a:xfrm>
          <a:prstGeom prst="ellipse">
            <a:avLst/>
          </a:prstGeom>
          <a:solidFill>
            <a:srgbClr val="065A82">
              <a:alpha val="65000"/>
            </a:srgbClr>
          </a:solidFill>
          <a:ln w="12700">
            <a:solidFill>
              <a:srgbClr val="065A82">
                <a:alpha val="6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9659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— SHOPPING ASSISTANT AUDIT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Rufus AI Test &amp; Analysis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Amazon's AI shopping assistant surfaces, ranks, and talks about the sWalkLite product family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160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sWalkLite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4160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B0F9L1STZ5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160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(beta)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160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407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096512"/>
            <a:ext cx="8412480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Rufus Conversations, Five Angles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below was run directly against Rufus AI on the sWalkLite / Sportstech listings, capturing exactly what a shopper would see.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85623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Suggestion Test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2167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“Suggested home office treadmill?” — does Rufus surface Sportstech at all, unprompted?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24328"/>
            <a:ext cx="11185855" cy="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61488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269748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Reasoning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30083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asked Rufus why it recommends these brands and products.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65576"/>
            <a:ext cx="11185855" cy="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60273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5387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Judgment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38496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treadmill has the best value?” — will Rufus rank subjectively?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306824"/>
            <a:ext cx="11185855" cy="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443984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" y="437997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(Preisverlauf)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46908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Rufus's built-in price-history tool, tested on the WoodPad Pro.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148072"/>
            <a:ext cx="11185855" cy="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28523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5285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" y="522122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Discovery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5532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better alternatives” — what does Rufus substitute in, and why?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overview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· KEYWORD SUGGESTION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“Suggested home office treadmill?”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456432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173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· UNDER €100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929384"/>
            <a:ext cx="3456432" cy="1170432"/>
          </a:xfrm>
          <a:prstGeom prst="roundRect">
            <a:avLst>
              <a:gd name="adj" fmla="val 625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2075688"/>
            <a:ext cx="254203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THERUN Walking Pad, 2-in-1, 2.75 HP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7157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€76.49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3113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46120" y="228782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52593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8254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3456432" cy="1170432"/>
          </a:xfrm>
          <a:prstGeom prst="roundRect">
            <a:avLst>
              <a:gd name="adj" fmla="val 625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" y="3392424"/>
            <a:ext cx="254203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UREVO Smart Walking Pad, 2.5 HP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403250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€90.09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46120" y="3547872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246120" y="3604565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842675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1422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(69)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42232" y="1417320"/>
            <a:ext cx="3456432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42232" y="14173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· €100–200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42232" y="1929384"/>
            <a:ext cx="3456432" cy="1170432"/>
          </a:xfrm>
          <a:prstGeom prst="roundRect">
            <a:avLst>
              <a:gd name="adj" fmla="val 625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06824" y="2075688"/>
            <a:ext cx="254203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treadmill 5-in-1, app + speaker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06824" y="27157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€179.99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85432" y="223113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85432" y="228782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252593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28254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42232" y="3246120"/>
            <a:ext cx="3456432" cy="1170432"/>
          </a:xfrm>
          <a:prstGeom prst="roundRect">
            <a:avLst>
              <a:gd name="adj" fmla="val 625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06824" y="3392424"/>
            <a:ext cx="254203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pad, Bluetooth speaker, 10 km/h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306824" y="403250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€189.99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85432" y="3547872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885432" y="3604565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85432" y="3842675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656832" y="41422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81544" y="1417320"/>
            <a:ext cx="3456432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81544" y="14173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WOOD · FROM €288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81544" y="1929384"/>
            <a:ext cx="3456432" cy="1170432"/>
          </a:xfrm>
          <a:prstGeom prst="roundRect">
            <a:avLst>
              <a:gd name="adj" fmla="val 625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46136" y="2075688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46136" y="20756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7946136" y="2350008"/>
            <a:ext cx="254203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WoodPad Pro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946136" y="27157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€288.00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0524744" y="223113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10524744" y="228782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0524744" y="252593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0296144" y="28254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7781544" y="330098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Sportstech product appeared in this tier.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562356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C1440E">
              <a:alpha val="12000"/>
            </a:srgbClr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1520" y="562356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sWalkLite did not appear in any of the three tiers. Sportstech's only presence in this unprompted suggestion test was the WoodPad Pro, in the Premium tier.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· Keyword suggestion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· RECOMMENDATION LOGIC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Rufus Recommends What It Recommends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directly: “Why should be recommend this brands and machine?”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CRITERIA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116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2860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star ratings with meaningful review volume, as a signal of genuine satisfaction.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8803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1546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directly to the shopper's request — here, alternatives to the WoodPad Pro.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7490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variety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0233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multiple price points so the shopper can compare options.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6177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892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relevant specs — gradient/incline, speed, and load capacity.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1691640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CRITERIA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2057400"/>
            <a:ext cx="5196535" cy="1234440"/>
          </a:xfrm>
          <a:prstGeom prst="roundRect">
            <a:avLst>
              <a:gd name="adj" fmla="val 5926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93408" y="2194560"/>
            <a:ext cx="4794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 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93408" y="2487168"/>
            <a:ext cx="4794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“Established German fitness brand with a wide range of products on Amazon.”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3429000"/>
            <a:ext cx="5196535" cy="1234440"/>
          </a:xfrm>
          <a:prstGeom prst="roundRect">
            <a:avLst>
              <a:gd name="adj" fmla="val 5926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3408" y="3566160"/>
            <a:ext cx="4794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KALWOL &amp; Others  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93408" y="3858768"/>
            <a:ext cx="4794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“Products with strong ratings and relevant features available in the Amazon database.”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4892040"/>
            <a:ext cx="5196535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3408" y="4892040"/>
            <a:ext cx="47941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also states it will not recommend products outside Amazon's own catalog, and does not make paid endorsements.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· Recommendation logic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· VALUE JUDGMENT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Rufus Won't Rank — Only Compares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380744"/>
            <a:ext cx="10783519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treadmill has the best value?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655064"/>
            <a:ext cx="10783519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can't give a subjective assessment of the “best value for money,” as that's a personal opinion. Here's an overview so you can compare yourself: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11185855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43371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114422" y="2514600"/>
            <a:ext cx="16525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904159" y="2514600"/>
            <a:ext cx="21000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1330" y="2514600"/>
            <a:ext cx="25474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16936"/>
            <a:ext cx="43371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Sportstech sWalk*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14422" y="2916936"/>
            <a:ext cx="165257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€254.15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4159" y="2916936"/>
            <a:ext cx="21000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11.5%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5610" y="301752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95610" y="307238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095610" y="3302813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867010" y="3593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(65)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877056"/>
            <a:ext cx="11185855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77056"/>
            <a:ext cx="43371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Sportstech WoodPad Pro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14422" y="3877056"/>
            <a:ext cx="165257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€288.00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04159" y="3877056"/>
            <a:ext cx="21000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95610" y="39776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095610" y="403250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095610" y="4262933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867010" y="4553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837176"/>
            <a:ext cx="43371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5-in-1 Incline Treadmill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14422" y="4837176"/>
            <a:ext cx="165257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€259.99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4159" y="4837176"/>
            <a:ext cx="21000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95610" y="49377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095610" y="49926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095610" y="5223053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867010" y="5513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(79)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5797296"/>
            <a:ext cx="11185855" cy="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588873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*See Test 5 — sWalk's load capacity is reported inconsistently across Rufus responses.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· Value judgment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 · PREISVERLAUF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History: Sportstech WoodPad Pro (dark)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€399.00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 — the 30-day high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€339.15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low — reached repeatedly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 16–23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low-price window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" y="2331720"/>
          <a:ext cx="7528255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168335" y="23317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9503" y="2478024"/>
            <a:ext cx="3118104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currently a good price?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369503" y="2807208"/>
            <a:ext cx="311810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would be a subjective evaluation which I am not allowed to make.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68335" y="3639312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9503" y="3785616"/>
            <a:ext cx="3118104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buy now or wait?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369503" y="4114800"/>
            <a:ext cx="311810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recommendations at a specific time and future-price predictions are not within my remit.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4983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refusals redirect to the same objective options: 90/365-day history, light-vs-dark comparison, or cheaper alternatives.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 · Price history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 · FIND BETTER ALTERNATIVES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Rufus Substitutes In — and Why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17904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5179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792224"/>
            <a:ext cx="178308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WoodPad Pro (light)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724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€288.00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05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tech, cheaper tone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7168" y="195681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487168" y="201350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225161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25511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46704" y="13716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11296" y="1517904"/>
            <a:ext cx="178308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Auto-Incline 5-in-1, 3.5 HP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11296" y="2724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€289.99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30952" y="195681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30952" y="201350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225161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102352" y="25511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(62)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90488" y="13716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1517904"/>
            <a:ext cx="178308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Incline Foldable 5-in-1, 136kg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724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€259.99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74736" y="195681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74736" y="201350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74736" y="225161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946136" y="25511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(79)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34272" y="13716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98864" y="1517904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98864" y="15179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1792224"/>
            <a:ext cx="178308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sWalk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98864" y="27249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€254.15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24505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 incline · up to 120kg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1018520" y="195681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1018520" y="201350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018520" y="225161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789920" y="25511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(65)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333756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4088" y="3483864"/>
            <a:ext cx="10783519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better alternatives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04088" y="3721608"/>
            <a:ext cx="10783519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wood-look walking pads are a niche product — WoodPad Pro remains the only model with a real wood surface in this price range. The alternatives offer more advanced technology but lack the wood design.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4526280"/>
            <a:ext cx="11185855" cy="1005840"/>
          </a:xfrm>
          <a:prstGeom prst="roundRect">
            <a:avLst>
              <a:gd name="adj" fmla="val 7273"/>
            </a:avLst>
          </a:prstGeom>
          <a:solidFill>
            <a:srgbClr val="C1440E">
              <a:alpha val="12000"/>
            </a:srgbClr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452628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conflict: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3's comparison table lists sWalk's load capacity as 150 kg. Here, Rufus describes the same product as “up to 120 kg.” Two different numbers, same listing, both from Rufus.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 · Alternatives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On-Page Defensive Testing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more Rufus conversations — this time run directly on the sWalkLite product page itself, not a general search.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0F3C5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47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PRODUCT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671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sWalk Lite Walking Pad Treadmill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incline (manual) · up to 6 km/h · up to 150 kg · 122×53×12.5 cm · 20.5 kg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271455" y="19659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271455" y="20208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71455" y="2251253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042855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(161)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59775" y="27889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“Amazon's tip” · 300+ purchased/month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118104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Testing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8328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a good choice?” vs. “Are there better alternatives?” — does Rufus defend or defect?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33008" y="315468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3008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35928" y="3118104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Requirement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35928" y="338328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X. Is this suitable?” — does Rufus honestly match specs to the need?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233672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197096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462272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better for small apartments?” — how readily does Rufus name competitors?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33008" y="4233672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3008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35928" y="4197096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Decision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5928" y="4462272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you buy this or another?” — does Rufus ever pick a winner?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531266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276088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Test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5541264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disadvantages?” — what gaps does Rufus surface?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3008" y="531266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33008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735928" y="5276088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Use Case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735928" y="5541264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good for walking while working?” — is our positioning understood?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6 · DEFENSIVE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Endorse Directly, Push Competitors Indirectly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5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335024"/>
            <a:ext cx="505343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walking pad a good choice for home use?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9968"/>
            <a:ext cx="5053432" cy="1177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the Sportstech sWalk Lite is an excellent choice — space-saving, quiet, no assembly, app/remote control, 4 training programs, heart rate measurement.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3008" y="1188720"/>
            <a:ext cx="545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4176" y="1335024"/>
            <a:ext cx="505343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better alternatives to this walking pad?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34176" y="2029968"/>
            <a:ext cx="5053432" cy="1177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strong alternatives, depending on budget and requirements — followed by a full 3-tier competitor breakdown.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7472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SURFACED IN THE SAME BREATH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3606698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3941064"/>
            <a:ext cx="269229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THERUN Walking Pad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4782312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€76.49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4507992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freedom of movement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96386" y="419709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396386" y="425378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96386" y="449189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167786" y="479145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2498" y="3794760"/>
            <a:ext cx="3606698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7090" y="3941064"/>
            <a:ext cx="269229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Miweba WP100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457090" y="4782312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€127.48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57090" y="4507992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warranty vs. 2-yr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85965" y="419709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185965" y="425378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85965" y="449189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957365" y="479145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82077" y="3794760"/>
            <a:ext cx="3606698" cy="1371600"/>
          </a:xfrm>
          <a:prstGeom prst="roundRect">
            <a:avLst>
              <a:gd name="adj" fmla="val 5333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46669" y="3941064"/>
            <a:ext cx="269229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UREVO 2-in-1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46669" y="4782312"/>
            <a:ext cx="2692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€189.98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46669" y="4507992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incline, 10 km/h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975543" y="419709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0975543" y="425378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975543" y="449189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746943" y="479145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(988)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5440680"/>
            <a:ext cx="11185855" cy="822960"/>
          </a:xfrm>
          <a:prstGeom prst="roundRect">
            <a:avLst>
              <a:gd name="adj" fmla="val 8889"/>
            </a:avLst>
          </a:prstGeom>
          <a:solidFill>
            <a:srgbClr val="C1440E">
              <a:alpha val="12000"/>
            </a:srgbClr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two postures — a confident endorsement to a direct suitability question, and a full competitive teardown the moment “alternatives” enters the prompt.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6 · Defensive testing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7 · FEATURE REQUIREMENT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Honestly Match the Stated Need?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a compact walking pad with incline. Is this suitable?”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55768" cy="2468880"/>
          </a:xfrm>
          <a:prstGeom prst="roundRect">
            <a:avLst>
              <a:gd name="adj" fmla="val 2963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783080"/>
            <a:ext cx="505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103120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Compact — 122×53×12.5cm, fits under desk/sofa/bed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505456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6% incline (manual tilt)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907792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Quiet — good for home office &amp; calls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3310128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150kg capacity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712464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training programs + app control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33008" y="1645920"/>
            <a:ext cx="5455768" cy="2468880"/>
          </a:xfrm>
          <a:prstGeom prst="roundRect">
            <a:avLst>
              <a:gd name="adj" fmla="val 2963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4176" y="1783080"/>
            <a:ext cx="505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34176" y="2121408"/>
            <a:ext cx="505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electric/automatic incline — fixed manual 6% only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6434176" y="2688336"/>
            <a:ext cx="505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Max 6 km/h — jogging not possible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6434176" y="3255264"/>
            <a:ext cx="505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foldable (stands upright against a wall)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4443984"/>
            <a:ext cx="10783519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a compact walking pad with incline. Is this suitable?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04088" y="4791456"/>
            <a:ext cx="10783519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manual 6% incline is sufficient for you and compactness and price are more important, the sWalk Lite is a solid choice. For more flexibility with the incline, I recommend one of the alternatives.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7 · Feature requirement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8 ·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“What's Better for Small Apartments?”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opened with: “The sWalk Lite is already well-suited, but here are alternatives that perform even better...”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9344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COMPACT &amp; FLAT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5455768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2048256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THERUN Walking Pad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32304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€76.49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45456" y="207568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45456" y="2132381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45456" y="2370491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016856" y="267004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5455768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" y="3090672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Miweba WP100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47472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€127.48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45456" y="3118104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45456" y="3174797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45456" y="3412907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016856" y="37124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233008" y="1609344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FOLDABLE &amp; SPACE-SAVING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3008" y="1901952"/>
            <a:ext cx="5455768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97600" y="2048256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Incline Riser Pad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97600" y="2432304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€179.99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975543" y="207568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975543" y="2132381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5543" y="2370491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746943" y="267004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(175)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33008" y="2944368"/>
            <a:ext cx="5455768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97600" y="3090672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UREVO 2-in-1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97600" y="347472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€189.98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975543" y="3118104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0975543" y="3174797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975543" y="3412907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746943" y="37124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(988)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11480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VS. sWALK LITE (€219)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43484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2648" y="4526280"/>
            <a:ext cx="243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12648" y="4818888"/>
            <a:ext cx="243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THERUN &amp; Superun from €76–100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45104" y="443484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54832" y="4526280"/>
            <a:ext cx="243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Quieter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3454832" y="4818888"/>
            <a:ext cx="243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Miweba Sports under 40dB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87288" y="443484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97016" y="4526280"/>
            <a:ext cx="243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Foldable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297016" y="4818888"/>
            <a:ext cx="243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HADMAX, UREVO &amp; Sportconic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29471" y="443484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39199" y="4526280"/>
            <a:ext cx="243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incline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139199" y="4818888"/>
            <a:ext cx="243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10–12% vs. 6%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56875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prompt: “Would you like to take a closer look at one of them or compare them?”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8 · Comparison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9 · PURCHASE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Rufus Never Names a Winner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335024"/>
            <a:ext cx="10783519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buy this or another treadmill in the same price range?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536192"/>
            <a:ext cx="1078351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personal purchasing decision that I cannot make for you — but here are the facts so you can decide.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5455768" cy="1691640"/>
          </a:xfrm>
          <a:prstGeom prst="roundRect">
            <a:avLst>
              <a:gd name="adj" fmla="val 4324"/>
            </a:avLst>
          </a:prstGeom>
          <a:solidFill>
            <a:srgbClr val="EEF4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9152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sWALK LITE WINS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5090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trust (10+ yrs) · Heart rate monitoring · Ease of use, no assembly · Quiet for video calls · 2-yr warranty &amp; 24/7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2240280"/>
            <a:ext cx="5455768" cy="1691640"/>
          </a:xfrm>
          <a:prstGeom prst="roundRect">
            <a:avLst>
              <a:gd name="adj" fmla="val 4324"/>
            </a:avLst>
          </a:prstGeom>
          <a:solidFill>
            <a:srgbClr val="EEF4F7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359152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ALTERNATIVE WINS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651760"/>
            <a:ext cx="5090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more incline (HADMAX 10%, UREVO 12%) · Want to jog &gt;6km/h · Want foldable design · Want a cheaper offer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185855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160520"/>
            <a:ext cx="433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14422" y="416052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51593" y="416052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588764" y="416052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Foldable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26280"/>
            <a:ext cx="433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sWalk Lite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114422" y="452628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manual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351593" y="452628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km/h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588764" y="452628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1185855" cy="36576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892040"/>
            <a:ext cx="433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HADMAX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114422" y="489204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351593" y="489204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km/h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588764" y="489204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257800"/>
            <a:ext cx="433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UREVO 2-in-1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114422" y="525780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351593" y="525780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km/h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588764" y="525780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623560"/>
            <a:ext cx="4337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Sportconic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114422" y="562356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351593" y="562356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km/h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588764" y="5623560"/>
            <a:ext cx="2100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9 · Purchase decision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 · WEAKNESS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Rufus Says Is Wrong With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disadvantages of this walking pad?”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7276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CUSTOMER-REPORTED LIMITATIONS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545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incline only — physically tilted, no button adjustment</a:t>
            </a:r>
            <a:endParaRPr lang="en-US" sz="1030" dirty="0"/>
          </a:p>
        </p:txBody>
      </p:sp>
      <p:sp>
        <p:nvSpPr>
          <p:cNvPr id="7" name="Text 5"/>
          <p:cNvSpPr txBox="1"/>
          <p:nvPr/>
        </p:nvSpPr>
        <p:spPr>
          <a:xfrm>
            <a:off x="6233008" y="1874520"/>
            <a:ext cx="545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Band occasionally drifts — needs an Allen key to readjust</a:t>
            </a:r>
            <a:endParaRPr lang="en-US" sz="103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77440"/>
            <a:ext cx="545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Limited incline (6%) — competitors offer 9–15%</a:t>
            </a:r>
            <a:endParaRPr lang="en-US" sz="1030" dirty="0"/>
          </a:p>
        </p:txBody>
      </p:sp>
      <p:sp>
        <p:nvSpPr>
          <p:cNvPr id="9" name="Text 7"/>
          <p:cNvSpPr txBox="1"/>
          <p:nvPr/>
        </p:nvSpPr>
        <p:spPr>
          <a:xfrm>
            <a:off x="6233008" y="2377440"/>
            <a:ext cx="545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 6 km/h — walking only, not jogging</a:t>
            </a:r>
            <a:endParaRPr lang="en-US" sz="103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880360"/>
            <a:ext cx="545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foldable — stands upright against a wall instead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880360"/>
            <a:ext cx="545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handrail/grip bar for safety while walking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11185855" cy="2331720"/>
          </a:xfrm>
          <a:prstGeom prst="roundRect">
            <a:avLst>
              <a:gd name="adj" fmla="val 3137"/>
            </a:avLst>
          </a:prstGeom>
          <a:solidFill>
            <a:srgbClr val="C1440E">
              <a:alpha val="10000"/>
            </a:srgbClr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576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FROM THE LISTING — ACTIONABLE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41648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decibel (dB) rating: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like Miweba Sports explicitly advertise “under 40dB” — sWalk Lite has no published figure.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6634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continuous-duty power spec: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available on engine power output during sustained operation.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28523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monitor requirement undisclosed: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“Real-time heart rate” is advertised, but only works with a separately purchased monitor.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 · Weakness test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11 · SPECIFIC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Validation in the Whole Test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walk while working from home. Is this a good option?”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85855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72768"/>
            <a:ext cx="45608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Claim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338139" y="1572768"/>
            <a:ext cx="6350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Confirmation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45608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for calls &amp; video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338139" y="1938528"/>
            <a:ext cx="6350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especially at low speeds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11185855" cy="36576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04288"/>
            <a:ext cx="45608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assembly, ready immediately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338139" y="2304288"/>
            <a:ext cx="6350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positive usability feedback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70048"/>
            <a:ext cx="45608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remote control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338139" y="2670048"/>
            <a:ext cx="6350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praised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035808"/>
            <a:ext cx="11185855" cy="36576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35808"/>
            <a:ext cx="45608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under desk, sofa or bed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338139" y="3035808"/>
            <a:ext cx="6350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positive space-saving mentions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01568"/>
            <a:ext cx="45608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home office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338139" y="3401568"/>
            <a:ext cx="6350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positive home-use mentions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5455768" cy="822960"/>
          </a:xfrm>
          <a:prstGeom prst="roundRect">
            <a:avLst>
              <a:gd name="adj" fmla="val 8889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950208"/>
            <a:ext cx="509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“Perfect for working from home and working while standing.”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3008" y="3950208"/>
            <a:ext cx="5455768" cy="822960"/>
          </a:xfrm>
          <a:prstGeom prst="roundRect">
            <a:avLst>
              <a:gd name="adj" fmla="val 8889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5888" y="3950208"/>
            <a:ext cx="509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delivers on its promises. Perfect for running in the background while working from home.”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910328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910328"/>
            <a:ext cx="10728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intended benefit of ‘walking while working’ aligns very well with customer experiences.” Only caveat: band-centering adjustability (58% positive).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11 · Specific use case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325880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unprompted visibility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1645920"/>
            <a:ext cx="493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sWalkLite never appeared in general “home office treadmill” suggestions — only WoodPad Pro represented Sportstech, in the Premium tier.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78728" y="137160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7872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54216" y="1325880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on data, refuses opinion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754216" y="1645920"/>
            <a:ext cx="493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stars, review volume, relevance, price spread, and features drive every recommendation; “best value,” “good price,” “buy now or wait,” and “would you buy this” are all declined as subjective.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2532888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confirmed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2852928"/>
            <a:ext cx="493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sWalkLite = “Sportstech sWalk Lite” (6% manual incline, 6 km/h, 150 kg). “Sportstech sWalk” (8 km/h, 11.5%) is a separate sibling SKU, not the same listing.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278728" y="25786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872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54216" y="2532888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result: positioning validated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754216" y="2852928"/>
            <a:ext cx="493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confirms the “walk while working from home” claim almost entirely — 100% positive across 5 dimensions, with one soft spot (band-centering, 58%).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02920" y="37856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3739896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Endorses directly, defects on request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4059936"/>
            <a:ext cx="493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suitability questions get a confident yes; “alternatives,” “better,” or “compare” prompts trigger a full named-competitor teardown every time.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278728" y="37856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78728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54216" y="3739896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names a winner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54216" y="4059936"/>
            <a:ext cx="493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Purchase-decision prompts always resolve to “if X matters → sWalkLite; if Y matters → alternative” — never a direct pick.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02920" y="499262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" y="4946904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listing gaps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78408" y="5266944"/>
            <a:ext cx="493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 rating, no continuous-duty power spec, and the heart-rate feature's separate-purchase requirement isn't disclosed clearly.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278728" y="499262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78728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754216" y="4946904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Most-repeated complaint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754216" y="5266944"/>
            <a:ext cx="493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Band/strap drift needing an Allen-key fix surfaces across multiple, unrelated test threads — the single most consistent customer friction point.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Offensive Testing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conversations run on a competitor's own page — does Sportstech get surfaced as the alternative?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0F3C5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928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TESTED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KALWOL Walking Pad (ASIN B0GTV3Y3L2)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4-in-1 · 10 km/h · 10% manual incline · Bluetooth speaker · 160 kg · ~€180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770632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 </a:t>
            </a:r>
            <a:pPr indent="0" marL="0">
              <a:buNone/>
            </a:pPr>
            <a:r>
              <a:rPr lang="en-US" sz="12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alternatives?”  →  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appears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300984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3282696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Option  </a:t>
            </a:r>
            <a:pPr indent="0" marL="0">
              <a:buNone/>
            </a:pPr>
            <a:r>
              <a:rPr lang="en-US" sz="12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“More incline?”  →  </a:t>
            </a:r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spec gap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1304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3794760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  </a:t>
            </a:r>
            <a:pPr indent="0" marL="0">
              <a:buNone/>
            </a:pPr>
            <a:r>
              <a:rPr lang="en-US" sz="12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“Easier to store?”  →  </a:t>
            </a:r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spec gap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325112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306824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</a:t>
            </a:r>
            <a:pPr indent="0" marL="0">
              <a:buNone/>
            </a:pPr>
            <a:r>
              <a:rPr lang="en-US" sz="12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“Better around this price?”  →  </a:t>
            </a:r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spec gap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837176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4818888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Need  </a:t>
            </a:r>
            <a:pPr indent="0" marL="0">
              <a:buNone/>
            </a:pPr>
            <a:r>
              <a:rPr lang="en-US" sz="12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“Walking + home office?”  →  </a:t>
            </a:r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brand gap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34924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5349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5330952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 </a:t>
            </a:r>
            <a:pPr indent="0" marL="0">
              <a:buNone/>
            </a:pPr>
            <a:r>
              <a:rPr lang="en-US" sz="12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with Sportstech”  →  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named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5861304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5861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5843016"/>
            <a:ext cx="10746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Question  </a:t>
            </a:r>
            <a:pPr indent="0" marL="0">
              <a:buNone/>
            </a:pPr>
            <a:r>
              <a:rPr lang="en-US" sz="1200" i="1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choose another?”  →  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pro-Sportstech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 1 · ALTERNATIVES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Competitor's Page, Sportstech Shows 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good alternatives to this walking pad?” — asked on the KALWOL PDP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55768" cy="1554480"/>
          </a:xfrm>
          <a:prstGeom prst="roundRect">
            <a:avLst>
              <a:gd name="adj" fmla="val 4706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46504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7465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020824"/>
            <a:ext cx="454136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sWalk Lite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770632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€219.00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96312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most direct alternative to the KALWOL for purely working from home”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45456" y="209397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45456" y="215066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45456" y="238877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16856" y="26883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(161)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33008" y="1600200"/>
            <a:ext cx="5455768" cy="1554480"/>
          </a:xfrm>
          <a:prstGeom prst="roundRect">
            <a:avLst>
              <a:gd name="adj" fmla="val 4706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7600" y="1746504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97600" y="17465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397600" y="2020824"/>
            <a:ext cx="454136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WoodPad Pro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97600" y="2770632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€288.00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97600" y="2496312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“Perfect when aesthetics in the living room are important”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975543" y="2093976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1A2733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975543" y="2150669"/>
            <a:ext cx="56692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5543" y="2388779"/>
            <a:ext cx="56692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746943" y="26883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3375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listed alongside Sportstech: THERUN €76.49, UREVO Smart Walking Pad €119.99, Superun €99.99, a 1–12 km/h foldable €169.99, and UREVO 2-in-1 €180.41.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11185855" cy="822960"/>
          </a:xfrm>
          <a:prstGeom prst="roundRect">
            <a:avLst>
              <a:gd name="adj" fmla="val 8889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02336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broad, general “alternatives” ask, Sportstech surfaces twice — with tailored, favorable framing, not just a bare mention.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 1 · Alternatives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TESTS 2–4 · SPEC GAPS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Absent When It Doesn't Win the Specific Ask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narrow, spec-specific asks on the KALWOL page — Sportstech is absent in all three, and each is explainable by the numbers.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2994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772119" y="1783080"/>
            <a:ext cx="2547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KALWOL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56725" y="1783080"/>
            <a:ext cx="2547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sWalk Lite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1330" y="1783080"/>
            <a:ext cx="2547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67128"/>
            <a:ext cx="2857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“More incline?”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772119" y="216712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incline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56725" y="216712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(sWalk: 11.5%)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1330" y="216712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neither beats 10%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11185855" cy="77724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44368"/>
            <a:ext cx="2857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“Easier to store?”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72119" y="294436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11.5cm high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56725" y="294436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12.5cm high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1330" y="294436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taller, not flatter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21608"/>
            <a:ext cx="2857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“Better around this price?”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772119" y="372160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€179.99, field 4.4–5.0★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56725" y="372160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€219.00, 4.3★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41330" y="372160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pricier &amp; lower-rated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6817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Sportstech's walking pads top out at 6–11.5% incline and 12.5cm height — real portfolio gaps versus the 15%+ incline and 9cm-height competitors that do get surfaced.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Tests 2–4 · Spec gaps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 5 · SPECIFIC NEED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Genuine Concern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335024"/>
            <a:ext cx="10783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one for walking and home office use. What would you recommend?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554480"/>
            <a:ext cx="107835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pick: the KALWOL itself. Sportstech doesn't appear anywhere in the answer.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402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use case where sWalkLite scores strongest on its own page (Test 11) — yet here, it's not even mentioned.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5855" cy="1920240"/>
          </a:xfrm>
          <a:prstGeom prst="roundRect">
            <a:avLst>
              <a:gd name="adj" fmla="val 3810"/>
            </a:avLst>
          </a:prstGeom>
          <a:solidFill>
            <a:srgbClr val="C1440E">
              <a:alpha val="10000"/>
            </a:srgbClr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8803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RUFUS NAMES “TOP BRANDS” UNPROMPTED, IT DOESN'T NAME SPORTSTECH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8328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why it recommended those products, Rufus pivoted to ask about premium tier interest, offering as examples: </a:t>
            </a:r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brands like Technogym, ProForm or NordicTrack (known to professionals)”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Sportstech wasn't mentioned, even as an example.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8920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Tests 2–4, this can't be explained by a losing spec — it points at brand recognition in Rufus's model, not product fit.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 5 · Specific need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 6 ·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Asked Directly, Rufus Knows the Catalog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this with similar Sportstech models.” — Rufus named four distinct Sportstech products, each with a fair verdict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5930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828800"/>
            <a:ext cx="243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sWalk Lite Plus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31720"/>
            <a:ext cx="243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km/h + 6 km/h walk mode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017520"/>
            <a:ext cx="243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12 km/h &amp; heart rate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5104" y="1691640"/>
            <a:ext cx="265930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4832" y="1828800"/>
            <a:ext cx="243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sWalk Lite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54832" y="2331720"/>
            <a:ext cx="243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km/h, 6% incline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54832" y="3017520"/>
            <a:ext cx="243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home-office tracker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7288" y="1691640"/>
            <a:ext cx="265930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7016" y="1828800"/>
            <a:ext cx="243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WalkMate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97016" y="2331720"/>
            <a:ext cx="243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km/h, 5% incline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97016" y="3017520"/>
            <a:ext cx="243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home-office tracker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29471" y="1691640"/>
            <a:ext cx="265930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9199" y="1828800"/>
            <a:ext cx="243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sProRun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39199" y="2331720"/>
            <a:ext cx="243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km/h, 9% incline, foldable handrail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139199" y="3017520"/>
            <a:ext cx="243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Sportstech jogging option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4032504"/>
            <a:ext cx="10783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with similar Sportstech models.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" y="4251960"/>
            <a:ext cx="107835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impresses with the Sportstech Live app, German engineering, and a wider range of models.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98348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98348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Rufus's underlying knowledge of the Sportstech catalog is broad and fair — the absences in Tests 2, 4, and 5 are about surfacing, not awareness.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 6 · Comparison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 7 · SWITCHING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Pro-Sportstech Statement Found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335024"/>
            <a:ext cx="10783519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I choose another product instead of this one?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499616"/>
            <a:ext cx="10783519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to consider a different model — several of which point straight at Sportstech.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5455768" cy="2286000"/>
          </a:xfrm>
          <a:prstGeom prst="roundRect">
            <a:avLst>
              <a:gd name="adj" fmla="val 3200"/>
            </a:avLst>
          </a:prstGeom>
          <a:solidFill>
            <a:srgbClr val="EEF4F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67712"/>
            <a:ext cx="509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TO LEAVE KALWOL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860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Running surface may be too narrow (40cm)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4436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10 km/h — “Sportstech models offer speeds up to 12 km/h”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1012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handrails — “e.g. Sportstech sProRun” suggested by name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7588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“Not an established brand name — KALWOL is less well-known than Sportstech”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04164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Wired — needs a nearby power outlet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3008" y="2148840"/>
            <a:ext cx="5455768" cy="2286000"/>
          </a:xfrm>
          <a:prstGeom prst="roundRect">
            <a:avLst>
              <a:gd name="adj" fmla="val 3200"/>
            </a:avLst>
          </a:prstGeom>
          <a:solidFill>
            <a:srgbClr val="EEF4F7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5888" y="2267712"/>
            <a:ext cx="509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KALWOL REMAINS BETTER IF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57860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Integrated speaker is wanted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99008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160kg load capacity is needed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15888" y="340156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 value for money matters (well below RRP)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15888" y="381304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 noise (≤40dB) is the priority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11185855" cy="1005840"/>
          </a:xfrm>
          <a:prstGeom prst="roundRect">
            <a:avLst>
              <a:gd name="adj" fmla="val 7273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6634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explicitly, unprompted, states Sportstech is more established and better-known than a named competitor — direct evidence that brand trust is in Rufus's model, at least in this framing.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Test 7 · Switching question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1677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AI Test &amp; Analysis  |  sWalkLite  —  B0F9L1STZ5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Every Rufus Recommendation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18 tests — discovery, defensive, and offensive — the same five levers decide whether Sportstech gets surfaced: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591056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query relevance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47088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Sportstech only surfaces when the ask genuinely matches its specs — broad asks (“alternatives?”) include it; narrow ones (“more incline?”, “easier to store?”) exclude it if the numbers don't lead.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502920" y="2432304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395728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stars &amp; volume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51760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4+★ with meaningful review counts is a hard filter everywhere — sWalk Lite (4.3★/161) holds its own, but newer 4.8–5.0★ entrants regularly edge it out at the same price.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02920" y="3236976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004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trust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456432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but real: Rufus calls Sportstech “established” and “more well-known” than a named competitor in Test 18, yet lists Technogym/ProForm/NordicTrack — not Sportstech — as its “top brand” examples in Test 16.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00507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261104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treats price as comparison data, never judgment — it refuses “good price?” and “best value?” every time, but still ranks Sportstech against cheaper, similarly-rated competitors.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02920" y="484632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809744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feature completeness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065776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A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Rufus reads the spec sheet literally — incline %, top speed, height, load capacity, warranty length — and both sides of Sportstech's story (Test 11's near-perfect validation vs. Test 10's listing gaps) trace back to how complete that data is.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02920" y="5696712"/>
            <a:ext cx="11185855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58155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Rufus is not biased for or against Sportstech — it is a literal, data-driven reader of the catalog. Every gap found here (incline range, height, dB spec, brand-example lists) is a lever the team can pull directly.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2026-08-28T12:52:40Z</dcterms:created>
  <dcterms:modified xsi:type="dcterms:W3CDTF">2026-08-28T12:52:40Z</dcterms:modified>
</cp:coreProperties>
</file>