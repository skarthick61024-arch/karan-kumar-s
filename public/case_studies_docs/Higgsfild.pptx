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charset="1" panose="00000500000000000000"/>
      <p:regular r:id="rId15"/>
    </p:embeddedFont>
    <p:embeddedFont>
      <p:font typeface="Poppins Semi-Bold" charset="1" panose="000007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VAGwtAYVr8A.mp4" Type="http://schemas.openxmlformats.org/officeDocument/2006/relationships/video"/><Relationship Id="rId4" Target="../media/VAGwtAYVr8A.mp4" Type="http://schemas.microsoft.com/office/2007/relationships/media"/><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jpeg" Type="http://schemas.openxmlformats.org/officeDocument/2006/relationships/image"/><Relationship Id="rId4" Target="../media/VAGwrtHQuJg.mp4" Type="http://schemas.openxmlformats.org/officeDocument/2006/relationships/video"/><Relationship Id="rId5" Target="../media/VAGwrtHQuJg.mp4" Type="http://schemas.microsoft.com/office/2007/relationships/media"/><Relationship Id="rId6" Target="../media/image3.png" Type="http://schemas.openxmlformats.org/officeDocument/2006/relationships/image"/><Relationship Id="rId7"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 Id="rId4" Target="../media/VAGwTgrI_UA.mp4" Type="http://schemas.openxmlformats.org/officeDocument/2006/relationships/video"/><Relationship Id="rId5" Target="../media/VAGwTgrI_UA.mp4" Type="http://schemas.microsoft.com/office/2007/relationships/media"/><Relationship Id="rId6" Target="../media/image3.png" Type="http://schemas.openxmlformats.org/officeDocument/2006/relationships/image"/><Relationship Id="rId7"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jpeg" Type="http://schemas.openxmlformats.org/officeDocument/2006/relationships/image"/><Relationship Id="rId4" Target="../media/VAGwrPwqGWI.mp4" Type="http://schemas.openxmlformats.org/officeDocument/2006/relationships/video"/><Relationship Id="rId5" Target="../media/VAGwrPwqGWI.mp4" Type="http://schemas.microsoft.com/office/2007/relationships/media"/><Relationship Id="rId6" Target="../media/image3.png" Type="http://schemas.openxmlformats.org/officeDocument/2006/relationships/image"/><Relationship Id="rId7"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jpeg" Type="http://schemas.openxmlformats.org/officeDocument/2006/relationships/image"/><Relationship Id="rId4" Target="../media/VAGwrryO8gU.mp4" Type="http://schemas.openxmlformats.org/officeDocument/2006/relationships/video"/><Relationship Id="rId5" Target="../media/VAGwrryO8gU.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jpeg" Type="http://schemas.openxmlformats.org/officeDocument/2006/relationships/image"/><Relationship Id="rId4" Target="../media/VAGwru07mJo.mp4" Type="http://schemas.openxmlformats.org/officeDocument/2006/relationships/video"/><Relationship Id="rId5" Target="../media/VAGwru07mJo.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9874217" y="0"/>
            <a:ext cx="8413783" cy="10287000"/>
            <a:chOff x="0" y="0"/>
            <a:chExt cx="11218377" cy="13716000"/>
          </a:xfrm>
        </p:grpSpPr>
        <p:pic>
          <p:nvPicPr>
            <p:cNvPr name="Picture 3" id="3"/>
            <p:cNvPicPr>
              <a:picLocks noChangeAspect="true"/>
            </p:cNvPicPr>
            <p:nvPr/>
          </p:nvPicPr>
          <p:blipFill>
            <a:blip r:embed="rId2"/>
            <a:srcRect l="299" t="0" r="48376" b="0"/>
            <a:stretch>
              <a:fillRect/>
            </a:stretch>
          </p:blipFill>
          <p:spPr>
            <a:xfrm flipH="false" flipV="false">
              <a:off x="0" y="0"/>
              <a:ext cx="11218377" cy="13716000"/>
            </a:xfrm>
            <a:prstGeom prst="rect">
              <a:avLst/>
            </a:prstGeom>
          </p:spPr>
        </p:pic>
      </p:grpSp>
      <p:grpSp>
        <p:nvGrpSpPr>
          <p:cNvPr name="Group 4" id="4"/>
          <p:cNvGrpSpPr/>
          <p:nvPr/>
        </p:nvGrpSpPr>
        <p:grpSpPr>
          <a:xfrm rot="0">
            <a:off x="1028700" y="8637965"/>
            <a:ext cx="6399820" cy="702027"/>
            <a:chOff x="0" y="0"/>
            <a:chExt cx="1685549" cy="184896"/>
          </a:xfrm>
        </p:grpSpPr>
        <p:sp>
          <p:nvSpPr>
            <p:cNvPr name="Freeform 5" id="5"/>
            <p:cNvSpPr/>
            <p:nvPr/>
          </p:nvSpPr>
          <p:spPr>
            <a:xfrm flipH="false" flipV="false" rot="0">
              <a:off x="0" y="0"/>
              <a:ext cx="1685549" cy="184896"/>
            </a:xfrm>
            <a:custGeom>
              <a:avLst/>
              <a:gdLst/>
              <a:ahLst/>
              <a:cxnLst/>
              <a:rect r="r" b="b" t="t" l="l"/>
              <a:pathLst>
                <a:path h="184896" w="1685549">
                  <a:moveTo>
                    <a:pt x="92448" y="0"/>
                  </a:moveTo>
                  <a:lnTo>
                    <a:pt x="1593101" y="0"/>
                  </a:lnTo>
                  <a:cubicBezTo>
                    <a:pt x="1617620" y="0"/>
                    <a:pt x="1641135" y="9740"/>
                    <a:pt x="1658472" y="27077"/>
                  </a:cubicBezTo>
                  <a:cubicBezTo>
                    <a:pt x="1675809" y="44415"/>
                    <a:pt x="1685549" y="67929"/>
                    <a:pt x="1685549" y="92448"/>
                  </a:cubicBezTo>
                  <a:lnTo>
                    <a:pt x="1685549" y="92448"/>
                  </a:lnTo>
                  <a:cubicBezTo>
                    <a:pt x="1685549" y="143506"/>
                    <a:pt x="1644159" y="184896"/>
                    <a:pt x="1593101" y="184896"/>
                  </a:cubicBezTo>
                  <a:lnTo>
                    <a:pt x="92448" y="184896"/>
                  </a:lnTo>
                  <a:cubicBezTo>
                    <a:pt x="41390" y="184896"/>
                    <a:pt x="0" y="143506"/>
                    <a:pt x="0" y="92448"/>
                  </a:cubicBezTo>
                  <a:lnTo>
                    <a:pt x="0" y="92448"/>
                  </a:lnTo>
                  <a:cubicBezTo>
                    <a:pt x="0" y="41390"/>
                    <a:pt x="41390" y="0"/>
                    <a:pt x="92448" y="0"/>
                  </a:cubicBezTo>
                  <a:close/>
                </a:path>
              </a:pathLst>
            </a:custGeom>
            <a:solidFill>
              <a:srgbClr val="FFFFFF"/>
            </a:solidFill>
          </p:spPr>
        </p:sp>
        <p:sp>
          <p:nvSpPr>
            <p:cNvPr name="TextBox 6" id="6"/>
            <p:cNvSpPr txBox="true"/>
            <p:nvPr/>
          </p:nvSpPr>
          <p:spPr>
            <a:xfrm>
              <a:off x="0" y="95250"/>
              <a:ext cx="1685549" cy="89646"/>
            </a:xfrm>
            <a:prstGeom prst="rect">
              <a:avLst/>
            </a:prstGeom>
          </p:spPr>
          <p:txBody>
            <a:bodyPr anchor="ctr" rtlCol="false" tIns="50800" lIns="50800" bIns="50800" rIns="50800"/>
            <a:lstStyle/>
            <a:p>
              <a:pPr algn="ctr">
                <a:lnSpc>
                  <a:spcPts val="3059"/>
                </a:lnSpc>
              </a:pPr>
              <a:r>
                <a:rPr lang="en-US" sz="3399" spc="-67">
                  <a:solidFill>
                    <a:srgbClr val="000000"/>
                  </a:solidFill>
                  <a:latin typeface="Open Sauce"/>
                  <a:ea typeface="Open Sauce"/>
                  <a:cs typeface="Open Sauce"/>
                  <a:sym typeface="Open Sauce"/>
                </a:rPr>
                <a:t>Also With Add new features</a:t>
              </a:r>
            </a:p>
          </p:txBody>
        </p:sp>
      </p:grpSp>
      <p:sp>
        <p:nvSpPr>
          <p:cNvPr name="TextBox 7" id="7"/>
          <p:cNvSpPr txBox="true"/>
          <p:nvPr/>
        </p:nvSpPr>
        <p:spPr>
          <a:xfrm rot="0">
            <a:off x="382330" y="1279331"/>
            <a:ext cx="8387705" cy="6406360"/>
          </a:xfrm>
          <a:prstGeom prst="rect">
            <a:avLst/>
          </a:prstGeom>
        </p:spPr>
        <p:txBody>
          <a:bodyPr anchor="t" rtlCol="false" tIns="0" lIns="0" bIns="0" rIns="0">
            <a:spAutoFit/>
          </a:bodyPr>
          <a:lstStyle/>
          <a:p>
            <a:pPr algn="ctr">
              <a:lnSpc>
                <a:spcPts val="10155"/>
              </a:lnSpc>
            </a:pPr>
            <a:r>
              <a:rPr lang="en-US" sz="8124" spc="-625">
                <a:solidFill>
                  <a:srgbClr val="00DF82"/>
                </a:solidFill>
                <a:latin typeface="Open Sauce"/>
                <a:ea typeface="Open Sauce"/>
                <a:cs typeface="Open Sauce"/>
                <a:sym typeface="Open Sauce"/>
              </a:rPr>
              <a:t>Higgsfield</a:t>
            </a:r>
          </a:p>
          <a:p>
            <a:pPr algn="ctr">
              <a:lnSpc>
                <a:spcPts val="10155"/>
              </a:lnSpc>
            </a:pPr>
            <a:r>
              <a:rPr lang="en-US" sz="8124" spc="-625">
                <a:solidFill>
                  <a:srgbClr val="00DF82"/>
                </a:solidFill>
                <a:latin typeface="Open Sauce"/>
                <a:ea typeface="Open Sauce"/>
                <a:cs typeface="Open Sauce"/>
                <a:sym typeface="Open Sauce"/>
              </a:rPr>
              <a:t>A UGC Video Creation Tool and Its Current Limitations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1028700" y="2369850"/>
            <a:ext cx="6089424" cy="6888450"/>
            <a:chOff x="0" y="0"/>
            <a:chExt cx="8119232" cy="9184600"/>
          </a:xfrm>
        </p:grpSpPr>
        <p:pic>
          <p:nvPicPr>
            <p:cNvPr name="Picture 3" id="3">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25137" t="0" r="25137" b="0"/>
            <a:stretch>
              <a:fillRect/>
            </a:stretch>
          </p:blipFill>
          <p:spPr>
            <a:xfrm flipH="false" flipV="false">
              <a:off x="0" y="0"/>
              <a:ext cx="8119232" cy="9184600"/>
            </a:xfrm>
            <a:prstGeom prst="rect">
              <a:avLst/>
            </a:prstGeom>
          </p:spPr>
        </p:pic>
      </p:grpSp>
      <p:grpSp>
        <p:nvGrpSpPr>
          <p:cNvPr name="Group 4" id="4"/>
          <p:cNvGrpSpPr/>
          <p:nvPr/>
        </p:nvGrpSpPr>
        <p:grpSpPr>
          <a:xfrm rot="0">
            <a:off x="8416369" y="3481929"/>
            <a:ext cx="7905827" cy="5776371"/>
            <a:chOff x="0" y="0"/>
            <a:chExt cx="2082193" cy="1521349"/>
          </a:xfrm>
        </p:grpSpPr>
        <p:sp>
          <p:nvSpPr>
            <p:cNvPr name="Freeform 5" id="5"/>
            <p:cNvSpPr/>
            <p:nvPr/>
          </p:nvSpPr>
          <p:spPr>
            <a:xfrm flipH="false" flipV="false" rot="0">
              <a:off x="0" y="0"/>
              <a:ext cx="2082193" cy="1521349"/>
            </a:xfrm>
            <a:custGeom>
              <a:avLst/>
              <a:gdLst/>
              <a:ahLst/>
              <a:cxnLst/>
              <a:rect r="r" b="b" t="t" l="l"/>
              <a:pathLst>
                <a:path h="1521349" w="2082193">
                  <a:moveTo>
                    <a:pt x="24482" y="0"/>
                  </a:moveTo>
                  <a:lnTo>
                    <a:pt x="2057711" y="0"/>
                  </a:lnTo>
                  <a:cubicBezTo>
                    <a:pt x="2071232" y="0"/>
                    <a:pt x="2082193" y="10961"/>
                    <a:pt x="2082193" y="24482"/>
                  </a:cubicBezTo>
                  <a:lnTo>
                    <a:pt x="2082193" y="1496867"/>
                  </a:lnTo>
                  <a:cubicBezTo>
                    <a:pt x="2082193" y="1503360"/>
                    <a:pt x="2079614" y="1509587"/>
                    <a:pt x="2075023" y="1514178"/>
                  </a:cubicBezTo>
                  <a:cubicBezTo>
                    <a:pt x="2070431" y="1518770"/>
                    <a:pt x="2064204" y="1521349"/>
                    <a:pt x="2057711" y="1521349"/>
                  </a:cubicBezTo>
                  <a:lnTo>
                    <a:pt x="24482" y="1521349"/>
                  </a:lnTo>
                  <a:cubicBezTo>
                    <a:pt x="10961" y="1521349"/>
                    <a:pt x="0" y="1510388"/>
                    <a:pt x="0" y="1496867"/>
                  </a:cubicBezTo>
                  <a:lnTo>
                    <a:pt x="0" y="24482"/>
                  </a:lnTo>
                  <a:cubicBezTo>
                    <a:pt x="0" y="17989"/>
                    <a:pt x="2579" y="11762"/>
                    <a:pt x="7171" y="7171"/>
                  </a:cubicBezTo>
                  <a:cubicBezTo>
                    <a:pt x="11762" y="2579"/>
                    <a:pt x="17989" y="0"/>
                    <a:pt x="24482" y="0"/>
                  </a:cubicBezTo>
                  <a:close/>
                </a:path>
              </a:pathLst>
            </a:custGeom>
            <a:solidFill>
              <a:srgbClr val="062727"/>
            </a:solidFill>
          </p:spPr>
        </p:sp>
        <p:sp>
          <p:nvSpPr>
            <p:cNvPr name="TextBox 6" id="6"/>
            <p:cNvSpPr txBox="true"/>
            <p:nvPr/>
          </p:nvSpPr>
          <p:spPr>
            <a:xfrm>
              <a:off x="0" y="38100"/>
              <a:ext cx="2082193" cy="1483249"/>
            </a:xfrm>
            <a:prstGeom prst="rect">
              <a:avLst/>
            </a:prstGeom>
          </p:spPr>
          <p:txBody>
            <a:bodyPr anchor="ctr" rtlCol="false" tIns="50800" lIns="50800" bIns="50800" rIns="50800"/>
            <a:lstStyle/>
            <a:p>
              <a:pPr algn="ctr">
                <a:lnSpc>
                  <a:spcPts val="1260"/>
                </a:lnSpc>
              </a:pPr>
            </a:p>
          </p:txBody>
        </p:sp>
      </p:grpSp>
      <p:sp>
        <p:nvSpPr>
          <p:cNvPr name="Freeform 7" id="7"/>
          <p:cNvSpPr/>
          <p:nvPr/>
        </p:nvSpPr>
        <p:spPr>
          <a:xfrm flipH="false" flipV="false" rot="0">
            <a:off x="16572291" y="8571291"/>
            <a:ext cx="687009" cy="687009"/>
          </a:xfrm>
          <a:custGeom>
            <a:avLst/>
            <a:gdLst/>
            <a:ahLst/>
            <a:cxnLst/>
            <a:rect r="r" b="b" t="t" l="l"/>
            <a:pathLst>
              <a:path h="687009" w="687009">
                <a:moveTo>
                  <a:pt x="0" y="0"/>
                </a:moveTo>
                <a:lnTo>
                  <a:pt x="687009" y="0"/>
                </a:lnTo>
                <a:lnTo>
                  <a:pt x="687009" y="687009"/>
                </a:lnTo>
                <a:lnTo>
                  <a:pt x="0" y="6870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8416369" y="941608"/>
            <a:ext cx="9104632" cy="2088773"/>
          </a:xfrm>
          <a:prstGeom prst="rect">
            <a:avLst/>
          </a:prstGeom>
        </p:spPr>
        <p:txBody>
          <a:bodyPr anchor="t" rtlCol="false" tIns="0" lIns="0" bIns="0" rIns="0">
            <a:spAutoFit/>
          </a:bodyPr>
          <a:lstStyle/>
          <a:p>
            <a:pPr algn="l">
              <a:lnSpc>
                <a:spcPts val="8346"/>
              </a:lnSpc>
            </a:pPr>
            <a:r>
              <a:rPr lang="en-US" sz="9273" spc="-714">
                <a:solidFill>
                  <a:srgbClr val="00DF82"/>
                </a:solidFill>
                <a:latin typeface="Open Sauce"/>
                <a:ea typeface="Open Sauce"/>
                <a:cs typeface="Open Sauce"/>
                <a:sym typeface="Open Sauce"/>
              </a:rPr>
              <a:t>Higgsfield video </a:t>
            </a:r>
          </a:p>
          <a:p>
            <a:pPr algn="l">
              <a:lnSpc>
                <a:spcPts val="7536"/>
              </a:lnSpc>
            </a:pPr>
            <a:r>
              <a:rPr lang="en-US" sz="8373" spc="-644">
                <a:solidFill>
                  <a:srgbClr val="00DF82"/>
                </a:solidFill>
                <a:latin typeface="Open Sauce"/>
                <a:ea typeface="Open Sauce"/>
                <a:cs typeface="Open Sauce"/>
                <a:sym typeface="Open Sauce"/>
              </a:rPr>
              <a:t>creation &amp; duration</a:t>
            </a:r>
          </a:p>
        </p:txBody>
      </p:sp>
      <p:sp>
        <p:nvSpPr>
          <p:cNvPr name="TextBox 9" id="9"/>
          <p:cNvSpPr txBox="true"/>
          <p:nvPr/>
        </p:nvSpPr>
        <p:spPr>
          <a:xfrm rot="0">
            <a:off x="9144000" y="3969814"/>
            <a:ext cx="6893388" cy="4800600"/>
          </a:xfrm>
          <a:prstGeom prst="rect">
            <a:avLst/>
          </a:prstGeom>
        </p:spPr>
        <p:txBody>
          <a:bodyPr anchor="t" rtlCol="false" tIns="0" lIns="0" bIns="0" rIns="0">
            <a:spAutoFit/>
          </a:bodyPr>
          <a:lstStyle/>
          <a:p>
            <a:pPr algn="l">
              <a:lnSpc>
                <a:spcPts val="4799"/>
              </a:lnSpc>
            </a:pPr>
            <a:r>
              <a:rPr lang="en-US" sz="3999" spc="-79">
                <a:solidFill>
                  <a:srgbClr val="FFFFFF"/>
                </a:solidFill>
                <a:latin typeface="Open Sauce"/>
                <a:ea typeface="Open Sauce"/>
                <a:cs typeface="Open Sauce"/>
                <a:sym typeface="Open Sauce"/>
              </a:rPr>
              <a:t>Higgsfield, when used with VEO3, currently generates videos limited to 7–8 seconds in duration. Attempts to extend the output by looping or holding the final frame did not deliver satisfactory results.</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1028700" y="4110663"/>
            <a:ext cx="7596247" cy="5587702"/>
            <a:chOff x="0" y="0"/>
            <a:chExt cx="10128329" cy="7450269"/>
          </a:xfrm>
        </p:grpSpPr>
        <p:pic>
          <p:nvPicPr>
            <p:cNvPr name="Picture 3" id="3"/>
            <p:cNvPicPr>
              <a:picLocks noChangeAspect="true"/>
            </p:cNvPicPr>
            <p:nvPr/>
          </p:nvPicPr>
          <p:blipFill>
            <a:blip r:embed="rId2"/>
            <a:srcRect l="8307" t="4067" r="23318" b="4067"/>
            <a:stretch>
              <a:fillRect/>
            </a:stretch>
          </p:blipFill>
          <p:spPr>
            <a:xfrm flipH="false" flipV="false">
              <a:off x="0" y="0"/>
              <a:ext cx="10128329" cy="7450269"/>
            </a:xfrm>
            <a:prstGeom prst="rect">
              <a:avLst/>
            </a:prstGeom>
          </p:spPr>
        </p:pic>
      </p:grpSp>
      <p:grpSp>
        <p:nvGrpSpPr>
          <p:cNvPr name="Group 4" id="4"/>
          <p:cNvGrpSpPr/>
          <p:nvPr/>
        </p:nvGrpSpPr>
        <p:grpSpPr>
          <a:xfrm rot="0">
            <a:off x="10343915" y="2403218"/>
            <a:ext cx="6915385" cy="6616721"/>
            <a:chOff x="0" y="0"/>
            <a:chExt cx="1821336" cy="1742675"/>
          </a:xfrm>
        </p:grpSpPr>
        <p:sp>
          <p:nvSpPr>
            <p:cNvPr name="Freeform 5" id="5"/>
            <p:cNvSpPr/>
            <p:nvPr/>
          </p:nvSpPr>
          <p:spPr>
            <a:xfrm flipH="false" flipV="false" rot="0">
              <a:off x="0" y="0"/>
              <a:ext cx="1821336" cy="1742675"/>
            </a:xfrm>
            <a:custGeom>
              <a:avLst/>
              <a:gdLst/>
              <a:ahLst/>
              <a:cxnLst/>
              <a:rect r="r" b="b" t="t" l="l"/>
              <a:pathLst>
                <a:path h="1742675" w="1821336">
                  <a:moveTo>
                    <a:pt x="27988" y="0"/>
                  </a:moveTo>
                  <a:lnTo>
                    <a:pt x="1793348" y="0"/>
                  </a:lnTo>
                  <a:cubicBezTo>
                    <a:pt x="1800771" y="0"/>
                    <a:pt x="1807890" y="2949"/>
                    <a:pt x="1813139" y="8198"/>
                  </a:cubicBezTo>
                  <a:cubicBezTo>
                    <a:pt x="1818387" y="13446"/>
                    <a:pt x="1821336" y="20565"/>
                    <a:pt x="1821336" y="27988"/>
                  </a:cubicBezTo>
                  <a:lnTo>
                    <a:pt x="1821336" y="1714687"/>
                  </a:lnTo>
                  <a:cubicBezTo>
                    <a:pt x="1821336" y="1722110"/>
                    <a:pt x="1818387" y="1729229"/>
                    <a:pt x="1813139" y="1734478"/>
                  </a:cubicBezTo>
                  <a:cubicBezTo>
                    <a:pt x="1807890" y="1739727"/>
                    <a:pt x="1800771" y="1742675"/>
                    <a:pt x="1793348" y="1742675"/>
                  </a:cubicBezTo>
                  <a:lnTo>
                    <a:pt x="27988" y="1742675"/>
                  </a:lnTo>
                  <a:cubicBezTo>
                    <a:pt x="20565" y="1742675"/>
                    <a:pt x="13446" y="1739727"/>
                    <a:pt x="8198" y="1734478"/>
                  </a:cubicBezTo>
                  <a:cubicBezTo>
                    <a:pt x="2949" y="1729229"/>
                    <a:pt x="0" y="1722110"/>
                    <a:pt x="0" y="1714687"/>
                  </a:cubicBezTo>
                  <a:lnTo>
                    <a:pt x="0" y="27988"/>
                  </a:lnTo>
                  <a:cubicBezTo>
                    <a:pt x="0" y="20565"/>
                    <a:pt x="2949" y="13446"/>
                    <a:pt x="8198" y="8198"/>
                  </a:cubicBezTo>
                  <a:cubicBezTo>
                    <a:pt x="13446" y="2949"/>
                    <a:pt x="20565" y="0"/>
                    <a:pt x="27988" y="0"/>
                  </a:cubicBezTo>
                  <a:close/>
                </a:path>
              </a:pathLst>
            </a:custGeom>
            <a:solidFill>
              <a:srgbClr val="FFFFFF"/>
            </a:solidFill>
          </p:spPr>
        </p:sp>
        <p:sp>
          <p:nvSpPr>
            <p:cNvPr name="TextBox 6" id="6"/>
            <p:cNvSpPr txBox="true"/>
            <p:nvPr/>
          </p:nvSpPr>
          <p:spPr>
            <a:xfrm>
              <a:off x="0" y="38100"/>
              <a:ext cx="1821336" cy="1704575"/>
            </a:xfrm>
            <a:prstGeom prst="rect">
              <a:avLst/>
            </a:prstGeom>
          </p:spPr>
          <p:txBody>
            <a:bodyPr anchor="ctr" rtlCol="false" tIns="50800" lIns="50800" bIns="50800" rIns="50800"/>
            <a:lstStyle/>
            <a:p>
              <a:pPr algn="ctr">
                <a:lnSpc>
                  <a:spcPts val="1260"/>
                </a:lnSpc>
              </a:pPr>
            </a:p>
          </p:txBody>
        </p:sp>
      </p:grpSp>
      <p:sp>
        <p:nvSpPr>
          <p:cNvPr name="TextBox 7" id="7"/>
          <p:cNvSpPr txBox="true"/>
          <p:nvPr/>
        </p:nvSpPr>
        <p:spPr>
          <a:xfrm rot="0">
            <a:off x="1028700" y="1067269"/>
            <a:ext cx="9202665" cy="2282571"/>
          </a:xfrm>
          <a:prstGeom prst="rect">
            <a:avLst/>
          </a:prstGeom>
        </p:spPr>
        <p:txBody>
          <a:bodyPr anchor="t" rtlCol="false" tIns="0" lIns="0" bIns="0" rIns="0">
            <a:spAutoFit/>
          </a:bodyPr>
          <a:lstStyle/>
          <a:p>
            <a:pPr algn="l">
              <a:lnSpc>
                <a:spcPts val="8694"/>
              </a:lnSpc>
            </a:pPr>
            <a:r>
              <a:rPr lang="en-US" sz="9660" spc="-743">
                <a:solidFill>
                  <a:srgbClr val="00DF82"/>
                </a:solidFill>
                <a:latin typeface="Open Sauce"/>
                <a:ea typeface="Open Sauce"/>
                <a:cs typeface="Open Sauce"/>
                <a:sym typeface="Open Sauce"/>
              </a:rPr>
              <a:t>Extend the video </a:t>
            </a:r>
          </a:p>
          <a:p>
            <a:pPr algn="l">
              <a:lnSpc>
                <a:spcPts val="8694"/>
              </a:lnSpc>
            </a:pPr>
            <a:r>
              <a:rPr lang="en-US" sz="9660" spc="-743">
                <a:solidFill>
                  <a:srgbClr val="00DF82"/>
                </a:solidFill>
                <a:latin typeface="Open Sauce"/>
                <a:ea typeface="Open Sauce"/>
                <a:cs typeface="Open Sauce"/>
                <a:sym typeface="Open Sauce"/>
              </a:rPr>
              <a:t>using Invideo ai </a:t>
            </a:r>
          </a:p>
        </p:txBody>
      </p:sp>
      <p:sp>
        <p:nvSpPr>
          <p:cNvPr name="TextBox 8" id="8"/>
          <p:cNvSpPr txBox="true"/>
          <p:nvPr/>
        </p:nvSpPr>
        <p:spPr>
          <a:xfrm rot="0">
            <a:off x="11150507" y="3260523"/>
            <a:ext cx="5797422" cy="4476750"/>
          </a:xfrm>
          <a:prstGeom prst="rect">
            <a:avLst/>
          </a:prstGeom>
        </p:spPr>
        <p:txBody>
          <a:bodyPr anchor="t" rtlCol="false" tIns="0" lIns="0" bIns="0" rIns="0">
            <a:spAutoFit/>
          </a:bodyPr>
          <a:lstStyle/>
          <a:p>
            <a:pPr algn="l">
              <a:lnSpc>
                <a:spcPts val="5039"/>
              </a:lnSpc>
            </a:pPr>
            <a:r>
              <a:rPr lang="en-US" sz="4199" spc="-83">
                <a:solidFill>
                  <a:srgbClr val="062727"/>
                </a:solidFill>
                <a:latin typeface="Open Sauce"/>
                <a:ea typeface="Open Sauce"/>
                <a:cs typeface="Open Sauce"/>
                <a:sym typeface="Open Sauce"/>
              </a:rPr>
              <a:t>We attempted to extend the video using Invideo, but the platform does not currently offer a direct video extension feature. </a:t>
            </a:r>
          </a:p>
        </p:txBody>
      </p:sp>
      <p:sp>
        <p:nvSpPr>
          <p:cNvPr name="Freeform 9" id="9"/>
          <p:cNvSpPr/>
          <p:nvPr/>
        </p:nvSpPr>
        <p:spPr>
          <a:xfrm flipH="false" flipV="false" rot="0">
            <a:off x="16915795" y="9258300"/>
            <a:ext cx="687009" cy="687009"/>
          </a:xfrm>
          <a:custGeom>
            <a:avLst/>
            <a:gdLst/>
            <a:ahLst/>
            <a:cxnLst/>
            <a:rect r="r" b="b" t="t" l="l"/>
            <a:pathLst>
              <a:path h="687009" w="687009">
                <a:moveTo>
                  <a:pt x="0" y="0"/>
                </a:moveTo>
                <a:lnTo>
                  <a:pt x="687010" y="0"/>
                </a:lnTo>
                <a:lnTo>
                  <a:pt x="687010" y="687009"/>
                </a:lnTo>
                <a:lnTo>
                  <a:pt x="0" y="687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293908" y="554147"/>
            <a:ext cx="16965392" cy="5982515"/>
            <a:chOff x="0" y="0"/>
            <a:chExt cx="4468251" cy="1575642"/>
          </a:xfrm>
        </p:grpSpPr>
        <p:sp>
          <p:nvSpPr>
            <p:cNvPr name="Freeform 3" id="3"/>
            <p:cNvSpPr/>
            <p:nvPr/>
          </p:nvSpPr>
          <p:spPr>
            <a:xfrm flipH="false" flipV="false" rot="0">
              <a:off x="0" y="0"/>
              <a:ext cx="4468251" cy="1575642"/>
            </a:xfrm>
            <a:custGeom>
              <a:avLst/>
              <a:gdLst/>
              <a:ahLst/>
              <a:cxnLst/>
              <a:rect r="r" b="b" t="t" l="l"/>
              <a:pathLst>
                <a:path h="1575642" w="4468251">
                  <a:moveTo>
                    <a:pt x="11408" y="0"/>
                  </a:moveTo>
                  <a:lnTo>
                    <a:pt x="4456843" y="0"/>
                  </a:lnTo>
                  <a:cubicBezTo>
                    <a:pt x="4459868" y="0"/>
                    <a:pt x="4462770" y="1202"/>
                    <a:pt x="4464910" y="3341"/>
                  </a:cubicBezTo>
                  <a:cubicBezTo>
                    <a:pt x="4467049" y="5481"/>
                    <a:pt x="4468251" y="8383"/>
                    <a:pt x="4468251" y="11408"/>
                  </a:cubicBezTo>
                  <a:lnTo>
                    <a:pt x="4468251" y="1564233"/>
                  </a:lnTo>
                  <a:cubicBezTo>
                    <a:pt x="4468251" y="1570534"/>
                    <a:pt x="4463143" y="1575642"/>
                    <a:pt x="4456843" y="1575642"/>
                  </a:cubicBezTo>
                  <a:lnTo>
                    <a:pt x="11408" y="1575642"/>
                  </a:lnTo>
                  <a:cubicBezTo>
                    <a:pt x="5108" y="1575642"/>
                    <a:pt x="0" y="1570534"/>
                    <a:pt x="0" y="1564233"/>
                  </a:cubicBezTo>
                  <a:lnTo>
                    <a:pt x="0" y="11408"/>
                  </a:lnTo>
                  <a:cubicBezTo>
                    <a:pt x="0" y="5108"/>
                    <a:pt x="5108" y="0"/>
                    <a:pt x="11408" y="0"/>
                  </a:cubicBezTo>
                  <a:close/>
                </a:path>
              </a:pathLst>
            </a:custGeom>
            <a:solidFill>
              <a:srgbClr val="062727"/>
            </a:solidFill>
          </p:spPr>
        </p:sp>
        <p:sp>
          <p:nvSpPr>
            <p:cNvPr name="TextBox 4" id="4"/>
            <p:cNvSpPr txBox="true"/>
            <p:nvPr/>
          </p:nvSpPr>
          <p:spPr>
            <a:xfrm>
              <a:off x="0" y="38100"/>
              <a:ext cx="4468251" cy="1537542"/>
            </a:xfrm>
            <a:prstGeom prst="rect">
              <a:avLst/>
            </a:prstGeom>
          </p:spPr>
          <p:txBody>
            <a:bodyPr anchor="ctr" rtlCol="false" tIns="50800" lIns="50800" bIns="50800" rIns="50800"/>
            <a:lstStyle/>
            <a:p>
              <a:pPr algn="ctr">
                <a:lnSpc>
                  <a:spcPts val="1260"/>
                </a:lnSpc>
              </a:pPr>
            </a:p>
          </p:txBody>
        </p:sp>
      </p:grpSp>
      <p:grpSp>
        <p:nvGrpSpPr>
          <p:cNvPr name="Group 5" id="5"/>
          <p:cNvGrpSpPr/>
          <p:nvPr/>
        </p:nvGrpSpPr>
        <p:grpSpPr>
          <a:xfrm rot="0">
            <a:off x="1028700" y="1258389"/>
            <a:ext cx="15725064" cy="4574030"/>
            <a:chOff x="0" y="0"/>
            <a:chExt cx="20966753" cy="6098706"/>
          </a:xfrm>
        </p:grpSpPr>
        <p:pic>
          <p:nvPicPr>
            <p:cNvPr name="Picture 6" id="6"/>
            <p:cNvPicPr>
              <a:picLocks noChangeAspect="true"/>
            </p:cNvPicPr>
            <p:nvPr/>
          </p:nvPicPr>
          <p:blipFill>
            <a:blip r:embed="rId2"/>
            <a:srcRect l="0" t="31150" r="0" b="29136"/>
            <a:stretch>
              <a:fillRect/>
            </a:stretch>
          </p:blipFill>
          <p:spPr>
            <a:xfrm flipH="false" flipV="false">
              <a:off x="0" y="0"/>
              <a:ext cx="20966753" cy="6098706"/>
            </a:xfrm>
            <a:prstGeom prst="rect">
              <a:avLst/>
            </a:prstGeom>
          </p:spPr>
        </p:pic>
      </p:grpSp>
      <p:pic>
        <p:nvPicPr>
          <p:cNvPr name="Picture 7" id="7">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6087" r="0" b="1362"/>
          <a:stretch>
            <a:fillRect/>
          </a:stretch>
        </p:blipFill>
        <p:spPr>
          <a:xfrm flipH="false" flipV="false" rot="0">
            <a:off x="4551039" y="554147"/>
            <a:ext cx="8618773" cy="5982515"/>
          </a:xfrm>
          <a:prstGeom prst="rect">
            <a:avLst/>
          </a:prstGeom>
        </p:spPr>
      </p:pic>
      <p:sp>
        <p:nvSpPr>
          <p:cNvPr name="TextBox 8" id="8"/>
          <p:cNvSpPr txBox="true"/>
          <p:nvPr/>
        </p:nvSpPr>
        <p:spPr>
          <a:xfrm rot="0">
            <a:off x="1135857" y="2082218"/>
            <a:ext cx="3715229" cy="2266779"/>
          </a:xfrm>
          <a:prstGeom prst="rect">
            <a:avLst/>
          </a:prstGeom>
        </p:spPr>
        <p:txBody>
          <a:bodyPr anchor="t" rtlCol="false" tIns="0" lIns="0" bIns="0" rIns="0">
            <a:spAutoFit/>
          </a:bodyPr>
          <a:lstStyle/>
          <a:p>
            <a:pPr algn="l">
              <a:lnSpc>
                <a:spcPts val="5845"/>
              </a:lnSpc>
            </a:pPr>
            <a:r>
              <a:rPr lang="en-US" sz="6495" spc="-500">
                <a:solidFill>
                  <a:srgbClr val="00DF82"/>
                </a:solidFill>
                <a:latin typeface="Open Sauce"/>
                <a:ea typeface="Open Sauce"/>
                <a:cs typeface="Open Sauce"/>
                <a:sym typeface="Open Sauce"/>
              </a:rPr>
              <a:t>Higgsfield new feature </a:t>
            </a:r>
          </a:p>
        </p:txBody>
      </p:sp>
      <p:sp>
        <p:nvSpPr>
          <p:cNvPr name="TextBox 9" id="9"/>
          <p:cNvSpPr txBox="true"/>
          <p:nvPr/>
        </p:nvSpPr>
        <p:spPr>
          <a:xfrm rot="0">
            <a:off x="13774189" y="1891718"/>
            <a:ext cx="2550947" cy="2867025"/>
          </a:xfrm>
          <a:prstGeom prst="rect">
            <a:avLst/>
          </a:prstGeom>
        </p:spPr>
        <p:txBody>
          <a:bodyPr anchor="t" rtlCol="false" tIns="0" lIns="0" bIns="0" rIns="0">
            <a:spAutoFit/>
          </a:bodyPr>
          <a:lstStyle/>
          <a:p>
            <a:pPr algn="l">
              <a:lnSpc>
                <a:spcPts val="7501"/>
              </a:lnSpc>
            </a:pPr>
            <a:r>
              <a:rPr lang="en-US" sz="6250" spc="-281">
                <a:solidFill>
                  <a:srgbClr val="00DF82"/>
                </a:solidFill>
                <a:latin typeface="Open Sauce"/>
                <a:ea typeface="Open Sauce"/>
                <a:cs typeface="Open Sauce"/>
                <a:sym typeface="Open Sauce"/>
              </a:rPr>
              <a:t>Draw to Video</a:t>
            </a:r>
          </a:p>
        </p:txBody>
      </p:sp>
      <p:sp>
        <p:nvSpPr>
          <p:cNvPr name="TextBox 10" id="10"/>
          <p:cNvSpPr txBox="true"/>
          <p:nvPr/>
        </p:nvSpPr>
        <p:spPr>
          <a:xfrm rot="0">
            <a:off x="1135857" y="7154294"/>
            <a:ext cx="14773477" cy="1905000"/>
          </a:xfrm>
          <a:prstGeom prst="rect">
            <a:avLst/>
          </a:prstGeom>
        </p:spPr>
        <p:txBody>
          <a:bodyPr anchor="t" rtlCol="false" tIns="0" lIns="0" bIns="0" rIns="0">
            <a:spAutoFit/>
          </a:bodyPr>
          <a:lstStyle/>
          <a:p>
            <a:pPr algn="l">
              <a:lnSpc>
                <a:spcPts val="2524"/>
              </a:lnSpc>
            </a:pPr>
            <a:r>
              <a:rPr lang="en-US" b="true" sz="2104" spc="-42">
                <a:solidFill>
                  <a:srgbClr val="FFFFFF"/>
                </a:solidFill>
                <a:latin typeface="Poppins Semi-Bold"/>
                <a:ea typeface="Poppins Semi-Bold"/>
                <a:cs typeface="Poppins Semi-Bold"/>
                <a:sym typeface="Poppins Semi-Bold"/>
              </a:rPr>
              <a:t>This feature helps reduce the need for excessive prompting while delivering more accurate and natural-looking results with smooth video flow. It primarily runs on Veo3, Minimax, and Seedance Pro. The current process is similar to Veo3’s draw-to-video approach, where we first prepare the input in Photoshop, draw moving objects or animated elements, and then use that image as the first frame in Veo3. However, with Higgsfield, the workflow is significantly faster. Its built-in drawing feature allows us to directly create and animate elements without relying on external tools like Photoshop, reducing preparation time and improving video quality.</a:t>
            </a:r>
          </a:p>
        </p:txBody>
      </p:sp>
      <p:sp>
        <p:nvSpPr>
          <p:cNvPr name="Freeform 11" id="11"/>
          <p:cNvSpPr/>
          <p:nvPr/>
        </p:nvSpPr>
        <p:spPr>
          <a:xfrm flipH="false" flipV="false" rot="0">
            <a:off x="16915795" y="9258300"/>
            <a:ext cx="687009" cy="687009"/>
          </a:xfrm>
          <a:custGeom>
            <a:avLst/>
            <a:gdLst/>
            <a:ahLst/>
            <a:cxnLst/>
            <a:rect r="r" b="b" t="t" l="l"/>
            <a:pathLst>
              <a:path h="687009" w="687009">
                <a:moveTo>
                  <a:pt x="0" y="0"/>
                </a:moveTo>
                <a:lnTo>
                  <a:pt x="687010" y="0"/>
                </a:lnTo>
                <a:lnTo>
                  <a:pt x="687010" y="687009"/>
                </a:lnTo>
                <a:lnTo>
                  <a:pt x="0" y="6870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7"/>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770265" y="2347342"/>
            <a:ext cx="5712875" cy="7408002"/>
            <a:chOff x="0" y="0"/>
            <a:chExt cx="7617166" cy="9877337"/>
          </a:xfrm>
        </p:grpSpPr>
        <p:pic>
          <p:nvPicPr>
            <p:cNvPr name="Picture 3" id="3"/>
            <p:cNvPicPr>
              <a:picLocks noChangeAspect="true"/>
            </p:cNvPicPr>
            <p:nvPr/>
          </p:nvPicPr>
          <p:blipFill>
            <a:blip r:embed="rId2"/>
            <a:srcRect l="0" t="1859" r="0" b="1859"/>
            <a:stretch>
              <a:fillRect/>
            </a:stretch>
          </p:blipFill>
          <p:spPr>
            <a:xfrm flipH="false" flipV="false">
              <a:off x="0" y="0"/>
              <a:ext cx="7617166" cy="9877337"/>
            </a:xfrm>
            <a:prstGeom prst="rect">
              <a:avLst/>
            </a:prstGeom>
          </p:spPr>
        </p:pic>
      </p:grpSp>
      <p:grpSp>
        <p:nvGrpSpPr>
          <p:cNvPr name="Group 4" id="4"/>
          <p:cNvGrpSpPr/>
          <p:nvPr/>
        </p:nvGrpSpPr>
        <p:grpSpPr>
          <a:xfrm rot="0">
            <a:off x="11818290" y="2347342"/>
            <a:ext cx="5131164" cy="7117147"/>
            <a:chOff x="0" y="0"/>
            <a:chExt cx="6841552" cy="9489530"/>
          </a:xfrm>
        </p:grpSpPr>
        <p:pic>
          <p:nvPicPr>
            <p:cNvPr name="Picture 5" id="5">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1560" t="0" r="1560" b="0"/>
            <a:stretch>
              <a:fillRect/>
            </a:stretch>
          </p:blipFill>
          <p:spPr>
            <a:xfrm flipH="false" flipV="false">
              <a:off x="0" y="0"/>
              <a:ext cx="6841552" cy="9489530"/>
            </a:xfrm>
            <a:prstGeom prst="rect">
              <a:avLst/>
            </a:prstGeom>
          </p:spPr>
        </p:pic>
      </p:grpSp>
      <p:sp>
        <p:nvSpPr>
          <p:cNvPr name="TextBox 6" id="6"/>
          <p:cNvSpPr txBox="true"/>
          <p:nvPr/>
        </p:nvSpPr>
        <p:spPr>
          <a:xfrm rot="0">
            <a:off x="3600040" y="800569"/>
            <a:ext cx="11087920" cy="1139129"/>
          </a:xfrm>
          <a:prstGeom prst="rect">
            <a:avLst/>
          </a:prstGeom>
        </p:spPr>
        <p:txBody>
          <a:bodyPr anchor="t" rtlCol="false" tIns="0" lIns="0" bIns="0" rIns="0">
            <a:spAutoFit/>
          </a:bodyPr>
          <a:lstStyle/>
          <a:p>
            <a:pPr algn="l">
              <a:lnSpc>
                <a:spcPts val="8267"/>
              </a:lnSpc>
            </a:pPr>
            <a:r>
              <a:rPr lang="en-US" sz="9186" spc="-707">
                <a:solidFill>
                  <a:srgbClr val="00DF82"/>
                </a:solidFill>
                <a:latin typeface="Open Sauce"/>
                <a:ea typeface="Open Sauce"/>
                <a:cs typeface="Open Sauce"/>
                <a:sym typeface="Open Sauce"/>
              </a:rPr>
              <a:t>Higgsfield new feature </a:t>
            </a:r>
          </a:p>
        </p:txBody>
      </p:sp>
      <p:sp>
        <p:nvSpPr>
          <p:cNvPr name="TextBox 7" id="7"/>
          <p:cNvSpPr txBox="true"/>
          <p:nvPr/>
        </p:nvSpPr>
        <p:spPr>
          <a:xfrm rot="0">
            <a:off x="6753204" y="2630406"/>
            <a:ext cx="1321308" cy="609101"/>
          </a:xfrm>
          <a:prstGeom prst="rect">
            <a:avLst/>
          </a:prstGeom>
        </p:spPr>
        <p:txBody>
          <a:bodyPr anchor="t" rtlCol="false" tIns="0" lIns="0" bIns="0" rIns="0">
            <a:spAutoFit/>
          </a:bodyPr>
          <a:lstStyle/>
          <a:p>
            <a:pPr algn="l">
              <a:lnSpc>
                <a:spcPts val="4488"/>
              </a:lnSpc>
            </a:pPr>
            <a:r>
              <a:rPr lang="en-US" sz="4986" spc="-383">
                <a:solidFill>
                  <a:srgbClr val="C1FF72"/>
                </a:solidFill>
                <a:latin typeface="Open Sauce"/>
                <a:ea typeface="Open Sauce"/>
                <a:cs typeface="Open Sauce"/>
                <a:sym typeface="Open Sauce"/>
              </a:rPr>
              <a:t>Input</a:t>
            </a:r>
          </a:p>
        </p:txBody>
      </p:sp>
      <p:sp>
        <p:nvSpPr>
          <p:cNvPr name="TextBox 8" id="8"/>
          <p:cNvSpPr txBox="true"/>
          <p:nvPr/>
        </p:nvSpPr>
        <p:spPr>
          <a:xfrm rot="0">
            <a:off x="10083661" y="2659933"/>
            <a:ext cx="1734629" cy="521472"/>
          </a:xfrm>
          <a:prstGeom prst="rect">
            <a:avLst/>
          </a:prstGeom>
        </p:spPr>
        <p:txBody>
          <a:bodyPr anchor="t" rtlCol="false" tIns="0" lIns="0" bIns="0" rIns="0">
            <a:spAutoFit/>
          </a:bodyPr>
          <a:lstStyle/>
          <a:p>
            <a:pPr algn="l">
              <a:lnSpc>
                <a:spcPts val="3768"/>
              </a:lnSpc>
            </a:pPr>
            <a:r>
              <a:rPr lang="en-US" sz="4186" spc="-322">
                <a:solidFill>
                  <a:srgbClr val="C1FF72"/>
                </a:solidFill>
                <a:latin typeface="Open Sauce"/>
                <a:ea typeface="Open Sauce"/>
                <a:cs typeface="Open Sauce"/>
                <a:sym typeface="Open Sauce"/>
              </a:rPr>
              <a:t>Output</a:t>
            </a:r>
          </a:p>
        </p:txBody>
      </p:sp>
      <p:sp>
        <p:nvSpPr>
          <p:cNvPr name="Freeform 9" id="9"/>
          <p:cNvSpPr/>
          <p:nvPr/>
        </p:nvSpPr>
        <p:spPr>
          <a:xfrm flipH="false" flipV="false" rot="0">
            <a:off x="16915795" y="9258300"/>
            <a:ext cx="687009" cy="687009"/>
          </a:xfrm>
          <a:custGeom>
            <a:avLst/>
            <a:gdLst/>
            <a:ahLst/>
            <a:cxnLst/>
            <a:rect r="r" b="b" t="t" l="l"/>
            <a:pathLst>
              <a:path h="687009" w="687009">
                <a:moveTo>
                  <a:pt x="0" y="0"/>
                </a:moveTo>
                <a:lnTo>
                  <a:pt x="687010" y="0"/>
                </a:lnTo>
                <a:lnTo>
                  <a:pt x="687010" y="687009"/>
                </a:lnTo>
                <a:lnTo>
                  <a:pt x="0" y="6870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770265" y="2347342"/>
            <a:ext cx="5712875" cy="7408002"/>
            <a:chOff x="0" y="0"/>
            <a:chExt cx="7617166" cy="9877337"/>
          </a:xfrm>
        </p:grpSpPr>
        <p:pic>
          <p:nvPicPr>
            <p:cNvPr name="Picture 3" id="3"/>
            <p:cNvPicPr>
              <a:picLocks noChangeAspect="true"/>
            </p:cNvPicPr>
            <p:nvPr/>
          </p:nvPicPr>
          <p:blipFill>
            <a:blip r:embed="rId2"/>
            <a:srcRect l="0" t="1697" r="0" b="1697"/>
            <a:stretch>
              <a:fillRect/>
            </a:stretch>
          </p:blipFill>
          <p:spPr>
            <a:xfrm flipH="false" flipV="false">
              <a:off x="0" y="0"/>
              <a:ext cx="7617166" cy="9877337"/>
            </a:xfrm>
            <a:prstGeom prst="rect">
              <a:avLst/>
            </a:prstGeom>
          </p:spPr>
        </p:pic>
      </p:grpSp>
      <p:grpSp>
        <p:nvGrpSpPr>
          <p:cNvPr name="Group 4" id="4"/>
          <p:cNvGrpSpPr/>
          <p:nvPr/>
        </p:nvGrpSpPr>
        <p:grpSpPr>
          <a:xfrm rot="0">
            <a:off x="11818290" y="2347342"/>
            <a:ext cx="5131164" cy="7117147"/>
            <a:chOff x="0" y="0"/>
            <a:chExt cx="6841552" cy="9489530"/>
          </a:xfrm>
        </p:grpSpPr>
        <p:pic>
          <p:nvPicPr>
            <p:cNvPr name="Picture 5" id="5">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1560" t="0" r="1560" b="0"/>
            <a:stretch>
              <a:fillRect/>
            </a:stretch>
          </p:blipFill>
          <p:spPr>
            <a:xfrm flipH="false" flipV="false">
              <a:off x="0" y="0"/>
              <a:ext cx="6841552" cy="9489530"/>
            </a:xfrm>
            <a:prstGeom prst="rect">
              <a:avLst/>
            </a:prstGeom>
          </p:spPr>
        </p:pic>
      </p:grpSp>
      <p:sp>
        <p:nvSpPr>
          <p:cNvPr name="TextBox 6" id="6"/>
          <p:cNvSpPr txBox="true"/>
          <p:nvPr/>
        </p:nvSpPr>
        <p:spPr>
          <a:xfrm rot="0">
            <a:off x="6753204" y="2630406"/>
            <a:ext cx="1321308" cy="609101"/>
          </a:xfrm>
          <a:prstGeom prst="rect">
            <a:avLst/>
          </a:prstGeom>
        </p:spPr>
        <p:txBody>
          <a:bodyPr anchor="t" rtlCol="false" tIns="0" lIns="0" bIns="0" rIns="0">
            <a:spAutoFit/>
          </a:bodyPr>
          <a:lstStyle/>
          <a:p>
            <a:pPr algn="l">
              <a:lnSpc>
                <a:spcPts val="4488"/>
              </a:lnSpc>
            </a:pPr>
            <a:r>
              <a:rPr lang="en-US" sz="4986" spc="-383">
                <a:solidFill>
                  <a:srgbClr val="C1FF72"/>
                </a:solidFill>
                <a:latin typeface="Open Sauce"/>
                <a:ea typeface="Open Sauce"/>
                <a:cs typeface="Open Sauce"/>
                <a:sym typeface="Open Sauce"/>
              </a:rPr>
              <a:t>Input</a:t>
            </a:r>
          </a:p>
        </p:txBody>
      </p:sp>
      <p:sp>
        <p:nvSpPr>
          <p:cNvPr name="TextBox 7" id="7"/>
          <p:cNvSpPr txBox="true"/>
          <p:nvPr/>
        </p:nvSpPr>
        <p:spPr>
          <a:xfrm rot="0">
            <a:off x="10083661" y="2659933"/>
            <a:ext cx="1734629" cy="521472"/>
          </a:xfrm>
          <a:prstGeom prst="rect">
            <a:avLst/>
          </a:prstGeom>
        </p:spPr>
        <p:txBody>
          <a:bodyPr anchor="t" rtlCol="false" tIns="0" lIns="0" bIns="0" rIns="0">
            <a:spAutoFit/>
          </a:bodyPr>
          <a:lstStyle/>
          <a:p>
            <a:pPr algn="l">
              <a:lnSpc>
                <a:spcPts val="3768"/>
              </a:lnSpc>
            </a:pPr>
            <a:r>
              <a:rPr lang="en-US" sz="4186" spc="-322">
                <a:solidFill>
                  <a:srgbClr val="C1FF72"/>
                </a:solidFill>
                <a:latin typeface="Open Sauce"/>
                <a:ea typeface="Open Sauce"/>
                <a:cs typeface="Open Sauce"/>
                <a:sym typeface="Open Sauce"/>
              </a:rPr>
              <a:t>Output</a:t>
            </a:r>
          </a:p>
        </p:txBody>
      </p:sp>
      <p:sp>
        <p:nvSpPr>
          <p:cNvPr name="Freeform 8" id="8"/>
          <p:cNvSpPr/>
          <p:nvPr/>
        </p:nvSpPr>
        <p:spPr>
          <a:xfrm flipH="false" flipV="false" rot="0">
            <a:off x="16915795" y="9258300"/>
            <a:ext cx="687009" cy="687009"/>
          </a:xfrm>
          <a:custGeom>
            <a:avLst/>
            <a:gdLst/>
            <a:ahLst/>
            <a:cxnLst/>
            <a:rect r="r" b="b" t="t" l="l"/>
            <a:pathLst>
              <a:path h="687009" w="687009">
                <a:moveTo>
                  <a:pt x="0" y="0"/>
                </a:moveTo>
                <a:lnTo>
                  <a:pt x="687010" y="0"/>
                </a:lnTo>
                <a:lnTo>
                  <a:pt x="687010" y="687009"/>
                </a:lnTo>
                <a:lnTo>
                  <a:pt x="0" y="6870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494718" y="2545633"/>
            <a:ext cx="8159420" cy="7408002"/>
            <a:chOff x="0" y="0"/>
            <a:chExt cx="10879227" cy="9877337"/>
          </a:xfrm>
        </p:grpSpPr>
        <p:pic>
          <p:nvPicPr>
            <p:cNvPr name="Picture 3" id="3"/>
            <p:cNvPicPr>
              <a:picLocks noChangeAspect="true"/>
            </p:cNvPicPr>
            <p:nvPr/>
          </p:nvPicPr>
          <p:blipFill>
            <a:blip r:embed="rId2"/>
            <a:srcRect l="29145" t="0" r="4493" b="0"/>
            <a:stretch>
              <a:fillRect/>
            </a:stretch>
          </p:blipFill>
          <p:spPr>
            <a:xfrm flipH="false" flipV="false">
              <a:off x="0" y="0"/>
              <a:ext cx="10879227" cy="9877337"/>
            </a:xfrm>
            <a:prstGeom prst="rect">
              <a:avLst/>
            </a:prstGeom>
          </p:spPr>
        </p:pic>
      </p:grpSp>
      <p:grpSp>
        <p:nvGrpSpPr>
          <p:cNvPr name="Group 4" id="4"/>
          <p:cNvGrpSpPr/>
          <p:nvPr/>
        </p:nvGrpSpPr>
        <p:grpSpPr>
          <a:xfrm rot="0">
            <a:off x="8944994" y="2545633"/>
            <a:ext cx="9172521" cy="7408002"/>
            <a:chOff x="0" y="0"/>
            <a:chExt cx="12230028" cy="9877337"/>
          </a:xfrm>
        </p:grpSpPr>
        <p:pic>
          <p:nvPicPr>
            <p:cNvPr name="Picture 5" id="5">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28171" t="0" r="1981" b="0"/>
            <a:stretch>
              <a:fillRect/>
            </a:stretch>
          </p:blipFill>
          <p:spPr>
            <a:xfrm flipH="false" flipV="false">
              <a:off x="0" y="0"/>
              <a:ext cx="12230028" cy="9877337"/>
            </a:xfrm>
            <a:prstGeom prst="rect">
              <a:avLst/>
            </a:prstGeom>
          </p:spPr>
        </p:pic>
      </p:grpSp>
      <p:sp>
        <p:nvSpPr>
          <p:cNvPr name="TextBox 6" id="6"/>
          <p:cNvSpPr txBox="true"/>
          <p:nvPr/>
        </p:nvSpPr>
        <p:spPr>
          <a:xfrm rot="0">
            <a:off x="494718" y="946508"/>
            <a:ext cx="1321308" cy="609101"/>
          </a:xfrm>
          <a:prstGeom prst="rect">
            <a:avLst/>
          </a:prstGeom>
        </p:spPr>
        <p:txBody>
          <a:bodyPr anchor="t" rtlCol="false" tIns="0" lIns="0" bIns="0" rIns="0">
            <a:spAutoFit/>
          </a:bodyPr>
          <a:lstStyle/>
          <a:p>
            <a:pPr algn="l">
              <a:lnSpc>
                <a:spcPts val="4488"/>
              </a:lnSpc>
            </a:pPr>
            <a:r>
              <a:rPr lang="en-US" sz="4986" spc="-383">
                <a:solidFill>
                  <a:srgbClr val="C1FF72"/>
                </a:solidFill>
                <a:latin typeface="Open Sauce"/>
                <a:ea typeface="Open Sauce"/>
                <a:cs typeface="Open Sauce"/>
                <a:sym typeface="Open Sauce"/>
              </a:rPr>
              <a:t>Input</a:t>
            </a:r>
          </a:p>
        </p:txBody>
      </p:sp>
      <p:sp>
        <p:nvSpPr>
          <p:cNvPr name="TextBox 7" id="7"/>
          <p:cNvSpPr txBox="true"/>
          <p:nvPr/>
        </p:nvSpPr>
        <p:spPr>
          <a:xfrm rot="0">
            <a:off x="9144000" y="1034137"/>
            <a:ext cx="1734629" cy="521472"/>
          </a:xfrm>
          <a:prstGeom prst="rect">
            <a:avLst/>
          </a:prstGeom>
        </p:spPr>
        <p:txBody>
          <a:bodyPr anchor="t" rtlCol="false" tIns="0" lIns="0" bIns="0" rIns="0">
            <a:spAutoFit/>
          </a:bodyPr>
          <a:lstStyle/>
          <a:p>
            <a:pPr algn="l">
              <a:lnSpc>
                <a:spcPts val="3768"/>
              </a:lnSpc>
            </a:pPr>
            <a:r>
              <a:rPr lang="en-US" sz="4186" spc="-322">
                <a:solidFill>
                  <a:srgbClr val="C1FF72"/>
                </a:solidFill>
                <a:latin typeface="Open Sauce"/>
                <a:ea typeface="Open Sauce"/>
                <a:cs typeface="Open Sauce"/>
                <a:sym typeface="Open Sauce"/>
              </a:rPr>
              <a:t>Output</a:t>
            </a: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494718" y="2882413"/>
            <a:ext cx="8649282" cy="5795462"/>
            <a:chOff x="0" y="0"/>
            <a:chExt cx="11532376" cy="7727283"/>
          </a:xfrm>
        </p:grpSpPr>
        <p:pic>
          <p:nvPicPr>
            <p:cNvPr name="Picture 3" id="3"/>
            <p:cNvPicPr>
              <a:picLocks noChangeAspect="true"/>
            </p:cNvPicPr>
            <p:nvPr/>
          </p:nvPicPr>
          <p:blipFill>
            <a:blip r:embed="rId2"/>
            <a:srcRect l="12545" t="0" r="3692" b="0"/>
            <a:stretch>
              <a:fillRect/>
            </a:stretch>
          </p:blipFill>
          <p:spPr>
            <a:xfrm flipH="false" flipV="false">
              <a:off x="0" y="0"/>
              <a:ext cx="11532376" cy="7727283"/>
            </a:xfrm>
            <a:prstGeom prst="rect">
              <a:avLst/>
            </a:prstGeom>
          </p:spPr>
        </p:pic>
      </p:grpSp>
      <p:grpSp>
        <p:nvGrpSpPr>
          <p:cNvPr name="Group 4" id="4"/>
          <p:cNvGrpSpPr/>
          <p:nvPr/>
        </p:nvGrpSpPr>
        <p:grpSpPr>
          <a:xfrm rot="0">
            <a:off x="9419381" y="2882413"/>
            <a:ext cx="8649282" cy="5795462"/>
            <a:chOff x="0" y="0"/>
            <a:chExt cx="11532376" cy="7727283"/>
          </a:xfrm>
        </p:grpSpPr>
        <p:pic>
          <p:nvPicPr>
            <p:cNvPr name="Picture 5" id="5">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7906" t="0" r="7906" b="0"/>
            <a:stretch>
              <a:fillRect/>
            </a:stretch>
          </p:blipFill>
          <p:spPr>
            <a:xfrm flipH="false" flipV="false">
              <a:off x="0" y="0"/>
              <a:ext cx="11532376" cy="7727283"/>
            </a:xfrm>
            <a:prstGeom prst="rect">
              <a:avLst/>
            </a:prstGeom>
          </p:spPr>
        </p:pic>
      </p:grpSp>
      <p:sp>
        <p:nvSpPr>
          <p:cNvPr name="TextBox 6" id="6"/>
          <p:cNvSpPr txBox="true"/>
          <p:nvPr/>
        </p:nvSpPr>
        <p:spPr>
          <a:xfrm rot="0">
            <a:off x="494718" y="1815943"/>
            <a:ext cx="1321308" cy="609101"/>
          </a:xfrm>
          <a:prstGeom prst="rect">
            <a:avLst/>
          </a:prstGeom>
        </p:spPr>
        <p:txBody>
          <a:bodyPr anchor="t" rtlCol="false" tIns="0" lIns="0" bIns="0" rIns="0">
            <a:spAutoFit/>
          </a:bodyPr>
          <a:lstStyle/>
          <a:p>
            <a:pPr algn="l">
              <a:lnSpc>
                <a:spcPts val="4488"/>
              </a:lnSpc>
            </a:pPr>
            <a:r>
              <a:rPr lang="en-US" sz="4986" spc="-383">
                <a:solidFill>
                  <a:srgbClr val="C1FF72"/>
                </a:solidFill>
                <a:latin typeface="Open Sauce"/>
                <a:ea typeface="Open Sauce"/>
                <a:cs typeface="Open Sauce"/>
                <a:sym typeface="Open Sauce"/>
              </a:rPr>
              <a:t>Input</a:t>
            </a:r>
          </a:p>
        </p:txBody>
      </p:sp>
      <p:sp>
        <p:nvSpPr>
          <p:cNvPr name="TextBox 7" id="7"/>
          <p:cNvSpPr txBox="true"/>
          <p:nvPr/>
        </p:nvSpPr>
        <p:spPr>
          <a:xfrm rot="0">
            <a:off x="9419381" y="1845470"/>
            <a:ext cx="1734629" cy="521472"/>
          </a:xfrm>
          <a:prstGeom prst="rect">
            <a:avLst/>
          </a:prstGeom>
        </p:spPr>
        <p:txBody>
          <a:bodyPr anchor="t" rtlCol="false" tIns="0" lIns="0" bIns="0" rIns="0">
            <a:spAutoFit/>
          </a:bodyPr>
          <a:lstStyle/>
          <a:p>
            <a:pPr algn="l">
              <a:lnSpc>
                <a:spcPts val="3768"/>
              </a:lnSpc>
            </a:pPr>
            <a:r>
              <a:rPr lang="en-US" sz="4186" spc="-322">
                <a:solidFill>
                  <a:srgbClr val="C1FF72"/>
                </a:solidFill>
                <a:latin typeface="Open Sauce"/>
                <a:ea typeface="Open Sauce"/>
                <a:cs typeface="Open Sauce"/>
                <a:sym typeface="Open Sauce"/>
              </a:rPr>
              <a:t>Output</a:t>
            </a: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9.xml><?xml version="1.0" encoding="utf-8"?>
<p:sld xmlns:p="http://schemas.openxmlformats.org/presentationml/2006/main" xmlns:a="http://schemas.openxmlformats.org/drawingml/2006/main">
  <p:cSld>
    <p:bg>
      <p:bgPr>
        <a:solidFill>
          <a:srgbClr val="031B1B"/>
        </a:solidFill>
      </p:bgPr>
    </p:bg>
    <p:spTree>
      <p:nvGrpSpPr>
        <p:cNvPr id="1" name=""/>
        <p:cNvGrpSpPr/>
        <p:nvPr/>
      </p:nvGrpSpPr>
      <p:grpSpPr>
        <a:xfrm>
          <a:off x="0" y="0"/>
          <a:ext cx="0" cy="0"/>
          <a:chOff x="0" y="0"/>
          <a:chExt cx="0" cy="0"/>
        </a:xfrm>
      </p:grpSpPr>
      <p:grpSp>
        <p:nvGrpSpPr>
          <p:cNvPr name="Group 2" id="2"/>
          <p:cNvGrpSpPr/>
          <p:nvPr/>
        </p:nvGrpSpPr>
        <p:grpSpPr>
          <a:xfrm rot="0">
            <a:off x="9148904" y="0"/>
            <a:ext cx="9139096" cy="10287000"/>
            <a:chOff x="0" y="0"/>
            <a:chExt cx="2407005" cy="2709333"/>
          </a:xfrm>
        </p:grpSpPr>
        <p:sp>
          <p:nvSpPr>
            <p:cNvPr name="Freeform 3" id="3"/>
            <p:cNvSpPr/>
            <p:nvPr/>
          </p:nvSpPr>
          <p:spPr>
            <a:xfrm flipH="false" flipV="false" rot="0">
              <a:off x="0" y="0"/>
              <a:ext cx="2407005" cy="2709333"/>
            </a:xfrm>
            <a:custGeom>
              <a:avLst/>
              <a:gdLst/>
              <a:ahLst/>
              <a:cxnLst/>
              <a:rect r="r" b="b" t="t" l="l"/>
              <a:pathLst>
                <a:path h="2709333" w="2407005">
                  <a:moveTo>
                    <a:pt x="21178" y="0"/>
                  </a:moveTo>
                  <a:lnTo>
                    <a:pt x="2385827" y="0"/>
                  </a:lnTo>
                  <a:cubicBezTo>
                    <a:pt x="2397523" y="0"/>
                    <a:pt x="2407005" y="9482"/>
                    <a:pt x="2407005" y="21178"/>
                  </a:cubicBezTo>
                  <a:lnTo>
                    <a:pt x="2407005" y="2688155"/>
                  </a:lnTo>
                  <a:cubicBezTo>
                    <a:pt x="2407005" y="2693772"/>
                    <a:pt x="2404773" y="2699159"/>
                    <a:pt x="2400802" y="2703130"/>
                  </a:cubicBezTo>
                  <a:cubicBezTo>
                    <a:pt x="2396830" y="2707102"/>
                    <a:pt x="2391443" y="2709333"/>
                    <a:pt x="2385827" y="2709333"/>
                  </a:cubicBezTo>
                  <a:lnTo>
                    <a:pt x="21178" y="2709333"/>
                  </a:lnTo>
                  <a:cubicBezTo>
                    <a:pt x="15561" y="2709333"/>
                    <a:pt x="10175" y="2707102"/>
                    <a:pt x="6203" y="2703130"/>
                  </a:cubicBezTo>
                  <a:cubicBezTo>
                    <a:pt x="2231" y="2699159"/>
                    <a:pt x="0" y="2693772"/>
                    <a:pt x="0" y="2688155"/>
                  </a:cubicBezTo>
                  <a:lnTo>
                    <a:pt x="0" y="21178"/>
                  </a:lnTo>
                  <a:cubicBezTo>
                    <a:pt x="0" y="15561"/>
                    <a:pt x="2231" y="10175"/>
                    <a:pt x="6203" y="6203"/>
                  </a:cubicBezTo>
                  <a:cubicBezTo>
                    <a:pt x="10175" y="2231"/>
                    <a:pt x="15561" y="0"/>
                    <a:pt x="21178" y="0"/>
                  </a:cubicBezTo>
                  <a:close/>
                </a:path>
              </a:pathLst>
            </a:custGeom>
            <a:solidFill>
              <a:srgbClr val="062727"/>
            </a:solidFill>
          </p:spPr>
        </p:sp>
        <p:sp>
          <p:nvSpPr>
            <p:cNvPr name="TextBox 4" id="4"/>
            <p:cNvSpPr txBox="true"/>
            <p:nvPr/>
          </p:nvSpPr>
          <p:spPr>
            <a:xfrm>
              <a:off x="0" y="38100"/>
              <a:ext cx="2407005" cy="2671233"/>
            </a:xfrm>
            <a:prstGeom prst="rect">
              <a:avLst/>
            </a:prstGeom>
          </p:spPr>
          <p:txBody>
            <a:bodyPr anchor="ctr" rtlCol="false" tIns="50800" lIns="50800" bIns="50800" rIns="50800"/>
            <a:lstStyle/>
            <a:p>
              <a:pPr algn="ctr">
                <a:lnSpc>
                  <a:spcPts val="1260"/>
                </a:lnSpc>
              </a:pPr>
            </a:p>
          </p:txBody>
        </p:sp>
      </p:grpSp>
      <p:sp>
        <p:nvSpPr>
          <p:cNvPr name="TextBox 5" id="5"/>
          <p:cNvSpPr txBox="true"/>
          <p:nvPr/>
        </p:nvSpPr>
        <p:spPr>
          <a:xfrm rot="0">
            <a:off x="5096159" y="4753319"/>
            <a:ext cx="6865529" cy="1501291"/>
          </a:xfrm>
          <a:prstGeom prst="rect">
            <a:avLst/>
          </a:prstGeom>
        </p:spPr>
        <p:txBody>
          <a:bodyPr anchor="t" rtlCol="false" tIns="0" lIns="0" bIns="0" rIns="0">
            <a:spAutoFit/>
          </a:bodyPr>
          <a:lstStyle/>
          <a:p>
            <a:pPr algn="l">
              <a:lnSpc>
                <a:spcPts val="10938"/>
              </a:lnSpc>
            </a:pPr>
            <a:r>
              <a:rPr lang="en-US" sz="12153" spc="-935">
                <a:solidFill>
                  <a:srgbClr val="00DF82"/>
                </a:solidFill>
                <a:latin typeface="Open Sauce"/>
                <a:ea typeface="Open Sauce"/>
                <a:cs typeface="Open Sauce"/>
                <a:sym typeface="Open Sauce"/>
              </a:rPr>
              <a:t>Thank </a:t>
            </a:r>
            <a:r>
              <a:rPr lang="en-US" sz="12153" spc="-935">
                <a:solidFill>
                  <a:srgbClr val="C1FF72"/>
                </a:solidFill>
                <a:latin typeface="Open Sauce"/>
                <a:ea typeface="Open Sauce"/>
                <a:cs typeface="Open Sauce"/>
                <a:sym typeface="Open Sauc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DAGwS2qPQ7c</dc:identifier>
  <dcterms:modified xsi:type="dcterms:W3CDTF">2011-08-01T06:04:30Z</dcterms:modified>
  <cp:revision>1</cp:revision>
  <dc:title>Higgsfild</dc:title>
</cp:coreProperties>
</file>