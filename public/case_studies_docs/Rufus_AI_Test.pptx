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822960" cy="82296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1737360"/>
            <a:ext cx="548640" cy="5486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6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18320" y="2377440"/>
            <a:ext cx="457200" cy="45720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55680" y="3108960"/>
            <a:ext cx="685800" cy="685800"/>
          </a:xfrm>
          <a:prstGeom prst="ellipse">
            <a:avLst/>
          </a:prstGeom>
          <a:solidFill>
            <a:srgbClr val="065A82">
              <a:alpha val="65000"/>
            </a:srgbClr>
          </a:solidFill>
          <a:ln w="12700">
            <a:solidFill>
              <a:srgbClr val="065A82">
                <a:alpha val="6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874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— SHOPPING ASSISTANT AUDIT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Rufus AI Test &amp; Analysis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154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review of how Amazon's AI shopping assistant surfaces, ranks, and talks about sWalkLite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sWalkLite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B0F9L1STZ5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096512"/>
            <a:ext cx="841248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Tested Rufus 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06424" y="1554480"/>
            <a:ext cx="10582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is now part of the purchase decision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06424" y="1892808"/>
            <a:ext cx="1058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AI assistant answers questions, compares products, and can redirect shoppers to competitors — all inside our own product page.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" y="2724912"/>
            <a:ext cx="10582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control what it says — only the inputs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" y="3063240"/>
            <a:ext cx="1058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reads the specs, reviews, and keywords already in our listings and Amazon's catalog. Nothing more, nothing less.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941064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" y="3895344"/>
            <a:ext cx="10582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real conversations, 3 angles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" y="4233672"/>
            <a:ext cx="1058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Rufus as a shopper discovering products, as a shopper already on our page, and as a shopper on a competitor's page.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11149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111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" y="5065776"/>
            <a:ext cx="10582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levers we can pull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" y="5404104"/>
            <a:ext cx="1058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exactly what drives visibility and recommendations, and turn that into concrete listing and product actions.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Eighteen Conversations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tests Rufus from a different shopper vantage point.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45738" cy="3566160"/>
          </a:xfrm>
          <a:prstGeom prst="roundRect">
            <a:avLst>
              <a:gd name="adj" fmla="val 2579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749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55749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08861" y="336499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08861" y="336499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Unprompted searches and general queries — does Sportstech surface at all, without being asked?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978" y="1874520"/>
            <a:ext cx="3545738" cy="3566160"/>
          </a:xfrm>
          <a:prstGeom prst="roundRect">
            <a:avLst>
              <a:gd name="adj" fmla="val 2579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5808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75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05858" y="297180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Testing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8920" y="336499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8920" y="336499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3840480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directly on sWalkLite's own page — does Rufus defend the product when asked?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43037" y="1874520"/>
            <a:ext cx="3545738" cy="3566160"/>
          </a:xfrm>
          <a:prstGeom prst="roundRect">
            <a:avLst>
              <a:gd name="adj" fmla="val 2579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95866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9586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325917" y="297180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48978" y="336499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8978" y="336499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71637" y="3840480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competitor's (KALWOL) page — does Sportstech get surfaced as the alternative?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learned, before the detail.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7556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understands Sportstech products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0299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asked directly, it accurately names and compares four different Sportstech models.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71576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6700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Home-office positioning is validated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9443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“walk while working” claim matches customer sentiment almost perfectly — our strongest result.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63016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35844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depends on keyword relevance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38587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asks (“alternatives?”) surface Sportstech; narrow spec asks often don't.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54456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4988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win on measurable specifications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47731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Incline, speed, height, and price are the recurring gaps — not brand perception.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45896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54132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 completeness directly impacts AI recommendations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56875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specs (noise level, motor power) get flagged by Rufus and cited against us.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Scorecard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management view of where Sportstech stands across every dimension tested.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5855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65286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214433" y="1828800"/>
            <a:ext cx="4291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9424"/>
            <a:ext cx="63457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understanding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14433" y="2432304"/>
            <a:ext cx="292608" cy="292608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14433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16769" y="2249424"/>
            <a:ext cx="3925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11185855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07792"/>
            <a:ext cx="63457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positioning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14433" y="3090672"/>
            <a:ext cx="292608" cy="292608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14433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616769" y="2907792"/>
            <a:ext cx="3925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66160"/>
            <a:ext cx="63457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14433" y="3749040"/>
            <a:ext cx="292608" cy="292608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14433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16769" y="3566160"/>
            <a:ext cx="3925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11185855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224528"/>
            <a:ext cx="63457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14433" y="4407408"/>
            <a:ext cx="292608" cy="292608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14433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16769" y="4224528"/>
            <a:ext cx="3925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882896"/>
            <a:ext cx="63457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 strength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14433" y="5065776"/>
            <a:ext cx="292608" cy="292608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14433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616769" y="4882896"/>
            <a:ext cx="3925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5541264"/>
            <a:ext cx="11185855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541264"/>
            <a:ext cx="63457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(unprompted)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14433" y="5724144"/>
            <a:ext cx="292608" cy="292608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14433" y="5705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616769" y="5541264"/>
            <a:ext cx="3925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6199632"/>
            <a:ext cx="11185855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scorecard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ON OUR OWN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Testing Results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conversations run directly on the sWalkLite listing.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7556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Endorses the product directly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0299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suitability questions (“is this good?”) get a confident, detailed yes.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62432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defects the moment “alternatives” comes up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8986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conversation volunteers a full named-competitor teardown when asked what's better.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349300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names a single winner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376732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Purchase-decision questions always resolve to “if X matters → us; if Y matters → them” — never a pick.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36168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real, fixable listing gaps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463600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noise (dB) rating, no continuous-duty motor spec, and the heart-rate feature's separate-purchase requirement isn't disclosed.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27608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523036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result: our positioning is validated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55046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“Walk while working from home” is confirmed by customer sentiment on almost every claim we make.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testing results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ON A COMPETITOR'S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Offensive Testing Results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conversations run on the KALWOL Walking Pad's own page.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75564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broad “alternatives” requests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0299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twice, with tailored, favorable framing — not just a bare mention.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62432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on narrow, spec-specific asks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8986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tests (incline, storage height, price) exclude us — each explainable by a real spec gap.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347472" cy="347472"/>
          </a:xfrm>
          <a:prstGeom prst="ellipse">
            <a:avLst/>
          </a:prstGeom>
          <a:solidFill>
            <a:srgbClr val="C1440E">
              <a:alpha val="15000"/>
            </a:srgbClr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349300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from our strongest use case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376732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a “walking + home office” recommendation — exactly where we're strongest — we don't appear at 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36168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full catalog when asked directly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463600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compares four Sportstech models with fair, distinct verdicts for each.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276088"/>
            <a:ext cx="347472" cy="347472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523036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pro-Sportstech statement found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55046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calls Sportstech more established and better-known than a named competitor — unprompted.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testing results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Rufus Understands Well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5760" cy="365760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36776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sWalkLite spec sheet — incline, speed, dimensions, and capacity are all correctly represented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365760" cy="365760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05456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validation of our core use case — the “walk while working from home” claim is echoed almost exactly, backed by real customer quotes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365760" cy="365760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74136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fair multi-model catalog knowledge — correctly distinguishes sWalk Lite, sWalk Lite Plus, WalkMate, and sProRun when asked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365760" cy="365760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42816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brand-trust language — calls Sportstech “established” and “more well-known” than a named competitor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5166360"/>
            <a:ext cx="365760" cy="365760"/>
          </a:xfrm>
          <a:prstGeom prst="ellipse">
            <a:avLst/>
          </a:prstGeom>
          <a:solidFill>
            <a:srgbClr val="047857">
              <a:alpha val="15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11496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rational recommendation logic — rating threshold, review volume, price variety, and feature match, never arbitrary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Rufus understands well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Sportstech Loses Visibility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problems — and two different owners.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55768" cy="3977640"/>
          </a:xfrm>
          <a:prstGeom prst="roundRect">
            <a:avLst>
              <a:gd name="adj" fmla="val 2299"/>
            </a:avLst>
          </a:prstGeom>
          <a:solidFill>
            <a:srgbClr val="EEF4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ISSUES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57984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problem — how AI finds us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499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keywords for broad, unprompted searches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64408"/>
            <a:ext cx="499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brand association — not named among Rufus's own “top brand” examples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922776"/>
            <a:ext cx="499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Doesn't appear in broad, general searches without a direct prompt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455768" cy="3977640"/>
          </a:xfrm>
          <a:prstGeom prst="roundRect">
            <a:avLst>
              <a:gd name="adj" fmla="val 2299"/>
            </a:avLst>
          </a:prstGeom>
          <a:solidFill>
            <a:srgbClr val="EEF4F7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187452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COMPETITIVE GAPS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57984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AI problem — a specification gap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6060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Less incline (6% vs. competitors' 9–15%+)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317296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Lower top speed (6 km/h vs. 10–12 km/h)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3739896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foldable, no handrail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4306824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Higher price at a lower star rating than the field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Sportstech loses visibility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Listing Improvement Opportunities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finding turns into a fixable listing 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7335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missing specs Rufus explicitly flagged — noise (dB) rating and continuous-duty motor power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4203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disclose that the heart-rate feature requires a separately purchased monitor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107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“walking while working from home” copy — it's already winning; make it more keyword-prominent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27939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comparison-style content addressing incline, speed, and foldability directly, so Rufus has the data to place us competitively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14807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broader brand-authority content so Sportstech enters Rufus's “top brand” vocabulary, not just its product 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opportunities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45738" cy="41148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3545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0195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Optimization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3545738" cy="3291840"/>
          </a:xfrm>
          <a:prstGeom prst="roundRect">
            <a:avLst>
              <a:gd name="adj" fmla="val 2222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6946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44144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AI-readable keywords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52958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40156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“walking while working” messaging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48970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36168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missing specifications (dB, motor power, HR monitor)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2978" y="1417320"/>
            <a:ext cx="3545738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2978" y="1417320"/>
            <a:ext cx="3545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22978" y="190195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Improvement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2978" y="2286000"/>
            <a:ext cx="3545738" cy="3291840"/>
          </a:xfrm>
          <a:prstGeom prst="roundRect">
            <a:avLst>
              <a:gd name="adj" fmla="val 2222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1578" y="2569464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80178" y="244144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comparison modules to A+ content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51578" y="3529584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0178" y="340156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competitive advantages (German engineering, app, warranty)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51578" y="4489704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80178" y="436168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A+ content structure and category keywords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43037" y="1417320"/>
            <a:ext cx="3545738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43037" y="1417320"/>
            <a:ext cx="3545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43037" y="190195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43037" y="2286000"/>
            <a:ext cx="3545738" cy="3291840"/>
          </a:xfrm>
          <a:prstGeom prst="roundRect">
            <a:avLst>
              <a:gd name="adj" fmla="val 2222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1637" y="256946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00237" y="244144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higher-incline model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71637" y="352958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00237" y="340156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foldable walking pad SKU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71637" y="448970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00237" y="4361688"/>
            <a:ext cx="2859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category positioning and brand authority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BUSINESS INSIGHT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572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Rufus does not replace our listing — it amplifies what is already visible in our data.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80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AI RECOMMENDATION VISIBILITY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73552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product benefits easier for AI to understand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913632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89534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missing specifications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53542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517136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category keywords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157216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3892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competitive differentiation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5855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61081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is not biased for or against Sportstech — it is a literal, data-driven reader of our catalog. Every gap found in this review is a lever we can pull directly.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2026-08-28T13:02:03Z</dcterms:created>
  <dcterms:modified xsi:type="dcterms:W3CDTF">2026-08-28T13:02:03Z</dcterms:modified>
</cp:coreProperties>
</file>